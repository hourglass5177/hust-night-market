
<file path=[Content_Types].xml><?xml version="1.0" encoding="utf-8"?>
<Types xmlns="http://schemas.openxmlformats.org/package/2006/content-types">
  <Default Extension="png" ContentType="image/png"/>
  <Default Extension="jpeg" ContentType="image/jpeg"/>
  <Default Extension="JPG" ContentType="image/.jpg"/>
  <Default Extension="gif" ContentType="image/gif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7" Type="http://schemas.openxmlformats.org/officeDocument/2006/relationships/tableStyles" Target="tableStyles.xml"/><Relationship Id="rId26" Type="http://schemas.openxmlformats.org/officeDocument/2006/relationships/viewProps" Target="viewProps.xml"/><Relationship Id="rId25" Type="http://schemas.openxmlformats.org/officeDocument/2006/relationships/presProps" Target="presProps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  <p:sp>
        <p:nvSpPr>
          <p:cNvPr id="2" name="Header Placeholder"/>
          <p:cNvSpPr/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buNone/>
              <a:defRPr sz="6000"/>
            </a:lvl1pPr>
          </a:lstStyle>
          <a:p>
            <a:r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1967CC37-1665-41E3-B3BB-40C551FD5263}" type="datetimeFigureOut">
              <a:rPr/>
            </a:fld>
            <a:endParaRPr/>
          </a:p>
        </p:txBody>
      </p:sp>
      <p:sp>
        <p:nvSpPr>
          <p:cNvPr id="5" name="页脚占位符 4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/>
        </p:txBody>
      </p:sp>
      <p:sp>
        <p:nvSpPr>
          <p:cNvPr id="6" name="灯片编号占位符 5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529413C4-002E-4313-96BE-7DDEDC8357AA}" type="slidenum">
              <a:rPr/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t>单击此处编辑母版文本样式</a:t>
            </a:r>
          </a:p>
          <a:p>
            <a:pPr>
              <a:buNone/>
            </a:pPr>
            <a:r>
              <a:t>二级</a:t>
            </a:r>
          </a:p>
          <a:p>
            <a:pPr>
              <a:buNone/>
            </a:pPr>
            <a:r>
              <a:t>三级</a:t>
            </a:r>
          </a:p>
          <a:p>
            <a:pPr>
              <a:buNone/>
            </a:pPr>
            <a:r>
              <a:t>四级</a:t>
            </a:r>
          </a:p>
          <a:p>
            <a:pPr>
              <a:buNone/>
            </a:pPr>
            <a:r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1967CC37-1665-41E3-B3BB-40C551FD5263}" type="datetimeFigureOut">
              <a:rPr/>
            </a:fld>
            <a:endParaRPr/>
          </a:p>
        </p:txBody>
      </p:sp>
      <p:sp>
        <p:nvSpPr>
          <p:cNvPr id="5" name="页脚占位符 4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/>
        </p:txBody>
      </p:sp>
      <p:sp>
        <p:nvSpPr>
          <p:cNvPr id="6" name="灯片编号占位符 5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529413C4-002E-4313-96BE-7DDEDC8357AA}" type="slidenum">
              <a:rPr/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buNone/>
              <a:defRPr sz="6000"/>
            </a:lvl1pPr>
          </a:lstStyle>
          <a:p>
            <a:r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>
              <a:buNone/>
            </a:pPr>
            <a:r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1967CC37-1665-41E3-B3BB-40C551FD5263}" type="datetimeFigureOut">
              <a:rPr/>
            </a:fld>
            <a:endParaRPr/>
          </a:p>
        </p:txBody>
      </p:sp>
      <p:sp>
        <p:nvSpPr>
          <p:cNvPr id="5" name="页脚占位符 4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/>
        </p:txBody>
      </p:sp>
      <p:sp>
        <p:nvSpPr>
          <p:cNvPr id="6" name="灯片编号占位符 5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529413C4-002E-4313-96BE-7DDEDC8357AA}" type="slidenum">
              <a:rPr/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>
              <a:buNone/>
            </a:pPr>
            <a:r>
              <a:t>单击此处编辑母版文本样式</a:t>
            </a:r>
          </a:p>
          <a:p>
            <a:pPr>
              <a:buNone/>
            </a:pPr>
            <a:r>
              <a:t>二级</a:t>
            </a:r>
          </a:p>
          <a:p>
            <a:pPr>
              <a:buNone/>
            </a:pPr>
            <a:r>
              <a:t>三级</a:t>
            </a:r>
          </a:p>
          <a:p>
            <a:pPr>
              <a:buNone/>
            </a:pPr>
            <a:r>
              <a:t>四级</a:t>
            </a:r>
          </a:p>
          <a:p>
            <a:pPr>
              <a:buNone/>
            </a:pPr>
            <a:r>
              <a:t>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>
              <a:buNone/>
            </a:pPr>
            <a:r>
              <a:t>单击此处编辑母版文本样式</a:t>
            </a:r>
          </a:p>
          <a:p>
            <a:pPr>
              <a:buNone/>
            </a:pPr>
            <a:r>
              <a:t>二级</a:t>
            </a:r>
          </a:p>
          <a:p>
            <a:pPr>
              <a:buNone/>
            </a:pPr>
            <a:r>
              <a:t>三级</a:t>
            </a:r>
          </a:p>
          <a:p>
            <a:pPr>
              <a:buNone/>
            </a:pPr>
            <a:r>
              <a:t>四级</a:t>
            </a:r>
          </a:p>
          <a:p>
            <a:pPr>
              <a:buNone/>
            </a:pPr>
            <a:r>
              <a:t>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1967CC37-1665-41E3-B3BB-40C551FD5263}" type="datetimeFigureOut">
              <a:rPr/>
            </a:fld>
            <a:endParaRPr/>
          </a:p>
        </p:txBody>
      </p:sp>
      <p:sp>
        <p:nvSpPr>
          <p:cNvPr id="6" name="页脚占位符 5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/>
        </p:txBody>
      </p:sp>
      <p:sp>
        <p:nvSpPr>
          <p:cNvPr id="7" name="灯片编号占位符 6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529413C4-002E-4313-96BE-7DDEDC8357AA}" type="slidenum">
              <a:rPr/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>
              <a:buNone/>
            </a:pPr>
            <a:r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>
              <a:buNone/>
            </a:pPr>
            <a:r>
              <a:t>单击此处编辑母版文本样式</a:t>
            </a:r>
          </a:p>
          <a:p>
            <a:pPr>
              <a:buNone/>
            </a:pPr>
            <a:r>
              <a:t>二级</a:t>
            </a:r>
          </a:p>
          <a:p>
            <a:pPr>
              <a:buNone/>
            </a:pPr>
            <a:r>
              <a:t>三级</a:t>
            </a:r>
          </a:p>
          <a:p>
            <a:pPr>
              <a:buNone/>
            </a:pPr>
            <a:r>
              <a:t>四级</a:t>
            </a:r>
          </a:p>
          <a:p>
            <a:pPr>
              <a:buNone/>
            </a:pPr>
            <a:r>
              <a:t>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>
              <a:buNone/>
            </a:pPr>
            <a:r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>
              <a:buNone/>
            </a:pPr>
            <a:r>
              <a:t>单击此处编辑母版文本样式</a:t>
            </a:r>
          </a:p>
          <a:p>
            <a:pPr>
              <a:buNone/>
            </a:pPr>
            <a:r>
              <a:t>二级</a:t>
            </a:r>
          </a:p>
          <a:p>
            <a:pPr>
              <a:buNone/>
            </a:pPr>
            <a:r>
              <a:t>三级</a:t>
            </a:r>
          </a:p>
          <a:p>
            <a:pPr>
              <a:buNone/>
            </a:pPr>
            <a:r>
              <a:t>四级</a:t>
            </a:r>
          </a:p>
          <a:p>
            <a:pPr>
              <a:buNone/>
            </a:pPr>
            <a:r>
              <a:t>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1967CC37-1665-41E3-B3BB-40C551FD5263}" type="datetimeFigureOut">
              <a:rPr/>
            </a:fld>
            <a:endParaRPr/>
          </a:p>
        </p:txBody>
      </p:sp>
      <p:sp>
        <p:nvSpPr>
          <p:cNvPr id="8" name="页脚占位符 7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/>
        </p:txBody>
      </p:sp>
      <p:sp>
        <p:nvSpPr>
          <p:cNvPr id="9" name="灯片编号占位符 8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529413C4-002E-4313-96BE-7DDEDC8357AA}" type="slidenum">
              <a:rPr/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1967CC37-1665-41E3-B3BB-40C551FD5263}" type="datetimeFigureOut">
              <a:rPr/>
            </a:fld>
            <a:endParaRPr/>
          </a:p>
        </p:txBody>
      </p:sp>
      <p:sp>
        <p:nvSpPr>
          <p:cNvPr id="4" name="页脚占位符 3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/>
        </p:txBody>
      </p:sp>
      <p:sp>
        <p:nvSpPr>
          <p:cNvPr id="5" name="灯片编号占位符 4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529413C4-002E-4313-96BE-7DDEDC8357AA}" type="slidenum">
              <a:rPr/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/>
      <p:sp>
        <p:nvSpPr>
          <p:cNvPr id="2" name="日期占位符 1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1967CC37-1665-41E3-B3BB-40C551FD5263}" type="datetimeFigureOut">
              <a:rPr/>
            </a:fld>
            <a:endParaRPr/>
          </a:p>
        </p:txBody>
      </p:sp>
      <p:sp>
        <p:nvSpPr>
          <p:cNvPr id="3" name="页脚占位符 2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/>
        </p:txBody>
      </p:sp>
      <p:sp>
        <p:nvSpPr>
          <p:cNvPr id="4" name="灯片编号占位符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529413C4-002E-4313-96BE-7DDEDC8357AA}" type="slidenum">
              <a:rPr/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buNone/>
              <a:defRPr sz="3200"/>
            </a:lvl1pPr>
          </a:lstStyle>
          <a:p>
            <a:r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>
            <a:pPr>
              <a:buNone/>
            </a:pPr>
            <a:r>
              <a:t>单击此处编辑母版文本样式</a:t>
            </a:r>
          </a:p>
          <a:p>
            <a:pPr>
              <a:buNone/>
            </a:pPr>
            <a:r>
              <a:t>二级</a:t>
            </a:r>
          </a:p>
          <a:p>
            <a:pPr>
              <a:buNone/>
            </a:pPr>
            <a:r>
              <a:t>三级</a:t>
            </a:r>
          </a:p>
          <a:p>
            <a:pPr>
              <a:buNone/>
            </a:pPr>
            <a:r>
              <a:t>四级</a:t>
            </a:r>
          </a:p>
          <a:p>
            <a:pPr>
              <a:buNone/>
            </a:pPr>
            <a:r>
              <a:t>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>
              <a:buNone/>
            </a:pPr>
            <a:r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1967CC37-1665-41E3-B3BB-40C551FD5263}" type="datetimeFigureOut">
              <a:rPr/>
            </a:fld>
            <a:endParaRPr/>
          </a:p>
        </p:txBody>
      </p:sp>
      <p:sp>
        <p:nvSpPr>
          <p:cNvPr id="6" name="页脚占位符 5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/>
        </p:txBody>
      </p:sp>
      <p:sp>
        <p:nvSpPr>
          <p:cNvPr id="7" name="灯片编号占位符 6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529413C4-002E-4313-96BE-7DDEDC8357AA}" type="slidenum">
              <a:rPr/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buNone/>
              <a:defRPr sz="3200"/>
            </a:lvl1pPr>
          </a:lstStyle>
          <a:p>
            <a:r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/>
        </p:txBody>
      </p:sp>
      <p:sp>
        <p:nvSpPr>
          <p:cNvPr id="4" name="文本占位符 3"/>
          <p:cNvSpPr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>
              <a:buNone/>
            </a:pPr>
            <a:r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1967CC37-1665-41E3-B3BB-40C551FD5263}" type="datetimeFigureOut">
              <a:rPr/>
            </a:fld>
            <a:endParaRPr/>
          </a:p>
        </p:txBody>
      </p:sp>
      <p:sp>
        <p:nvSpPr>
          <p:cNvPr id="6" name="页脚占位符 5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/>
        </p:txBody>
      </p:sp>
      <p:sp>
        <p:nvSpPr>
          <p:cNvPr id="7" name="灯片编号占位符 6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529413C4-002E-4313-96BE-7DDEDC8357AA}" type="slidenum">
              <a:rPr/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idx="1"/>
          </p:nvPr>
        </p:nvSpPr>
        <p:spPr/>
        <p:txBody>
          <a:bodyPr vert="eaVert"/>
          <a:lstStyle/>
          <a:p>
            <a:pPr>
              <a:buNone/>
            </a:pPr>
            <a:r>
              <a:t>单击此处编辑母版文本样式</a:t>
            </a:r>
          </a:p>
          <a:p>
            <a:pPr>
              <a:buNone/>
            </a:pPr>
            <a:r>
              <a:t>二级</a:t>
            </a:r>
          </a:p>
          <a:p>
            <a:pPr>
              <a:buNone/>
            </a:pPr>
            <a:r>
              <a:t>三级</a:t>
            </a:r>
          </a:p>
          <a:p>
            <a:pPr>
              <a:buNone/>
            </a:pPr>
            <a:r>
              <a:t>四级</a:t>
            </a:r>
          </a:p>
          <a:p>
            <a:pPr>
              <a:buNone/>
            </a:pPr>
            <a:r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1967CC37-1665-41E3-B3BB-40C551FD5263}" type="datetimeFigureOut">
              <a:rPr/>
            </a:fld>
            <a:endParaRPr/>
          </a:p>
        </p:txBody>
      </p:sp>
      <p:sp>
        <p:nvSpPr>
          <p:cNvPr id="5" name="页脚占位符 4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/>
        </p:txBody>
      </p:sp>
      <p:sp>
        <p:nvSpPr>
          <p:cNvPr id="6" name="灯片编号占位符 5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529413C4-002E-4313-96BE-7DDEDC8357AA}" type="slidenum">
              <a:rPr/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/>
      <p:sp>
        <p:nvSpPr>
          <p:cNvPr id="2" name="竖排标题 1"/>
          <p:cNvSpPr>
            <a:spLocks noGrp="1"/>
          </p:cNvSpPr>
          <p:nvPr>
            <p:ph type="title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>
              <a:buNone/>
            </a:pPr>
            <a:r>
              <a:t>单击此处编辑母版文本样式</a:t>
            </a:r>
          </a:p>
          <a:p>
            <a:pPr>
              <a:buNone/>
            </a:pPr>
            <a:r>
              <a:t>二级</a:t>
            </a:r>
          </a:p>
          <a:p>
            <a:pPr>
              <a:buNone/>
            </a:pPr>
            <a:r>
              <a:t>三级</a:t>
            </a:r>
          </a:p>
          <a:p>
            <a:pPr>
              <a:buNone/>
            </a:pPr>
            <a:r>
              <a:t>四级</a:t>
            </a:r>
          </a:p>
          <a:p>
            <a:pPr>
              <a:buNone/>
            </a:pPr>
            <a:r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1967CC37-1665-41E3-B3BB-40C551FD5263}" type="datetimeFigureOut">
              <a:rPr/>
            </a:fld>
            <a:endParaRPr/>
          </a:p>
        </p:txBody>
      </p:sp>
      <p:sp>
        <p:nvSpPr>
          <p:cNvPr id="5" name="页脚占位符 4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/>
        </p:txBody>
      </p:sp>
      <p:sp>
        <p:nvSpPr>
          <p:cNvPr id="6" name="灯片编号占位符 5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529413C4-002E-4313-96BE-7DDEDC8357AA}" type="slidenum">
              <a:rPr/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anchor="ctr">
            <a:normAutofit/>
          </a:bodyPr>
          <a:lstStyle/>
          <a:p>
            <a:r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>
            <a:normAutofit/>
          </a:bodyPr>
          <a:lstStyle/>
          <a:p>
            <a:pPr>
              <a:buNone/>
            </a:pPr>
            <a:r>
              <a:t>单击此处编辑母版文本样式</a:t>
            </a:r>
          </a:p>
          <a:p>
            <a:pPr>
              <a:buNone/>
            </a:pPr>
            <a:r>
              <a:t>二级</a:t>
            </a:r>
          </a:p>
          <a:p>
            <a:pPr>
              <a:buNone/>
            </a:pPr>
            <a:r>
              <a:t>三级</a:t>
            </a:r>
          </a:p>
          <a:p>
            <a:pPr>
              <a:buNone/>
            </a:pPr>
            <a:r>
              <a:t>四级</a:t>
            </a:r>
          </a:p>
          <a:p>
            <a:pPr>
              <a:buNone/>
            </a:pPr>
            <a:r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l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967CC37-1665-41E3-B3BB-40C551FD5263}" type="datetimeFigureOut">
              <a:rPr/>
            </a:fld>
            <a:endParaRPr/>
          </a:p>
        </p:txBody>
      </p:sp>
      <p:sp>
        <p:nvSpPr>
          <p:cNvPr id="5" name="页脚占位符 4"/>
          <p:cNvSpPr>
            <a:spLocks noGrp="1"/>
          </p:cNvSpPr>
          <p:nvPr>
            <p:ph type="ft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ct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灯片编号占位符 5"/>
          <p:cNvSpPr>
            <a:spLocks noGrp="1"/>
          </p:cNvSpPr>
          <p:nvPr>
            <p:ph type="sldNum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29413C4-002E-4313-96BE-7DDEDC8357AA}" type="slidenum">
              <a:rPr/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.xml"/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4.png"/><Relationship Id="rId3" Type="http://schemas.openxmlformats.org/officeDocument/2006/relationships/image" Target="../media/image3.GIF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2.xml"/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image" Target="../media/image5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8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8.jpe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5.xml"/><Relationship Id="rId7" Type="http://schemas.openxmlformats.org/officeDocument/2006/relationships/slideLayout" Target="../slideLayouts/slideLayout2.xml"/><Relationship Id="rId6" Type="http://schemas.openxmlformats.org/officeDocument/2006/relationships/image" Target="../media/image3.GIF"/><Relationship Id="rId5" Type="http://schemas.openxmlformats.org/officeDocument/2006/relationships/image" Target="../media/image12.png"/><Relationship Id="rId4" Type="http://schemas.openxmlformats.org/officeDocument/2006/relationships/image" Target="../media/image11.png"/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6.xml"/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15.png"/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image" Target="../media/image5.jpeg"/></Relationships>
</file>

<file path=ppt/slides/_rels/slide7.xml.rels><?xml version="1.0" encoding="UTF-8" standalone="yes"?>
<Relationships xmlns="http://schemas.openxmlformats.org/package/2006/relationships"><Relationship Id="rId9" Type="http://schemas.openxmlformats.org/officeDocument/2006/relationships/image" Target="../media/image24.png"/><Relationship Id="rId8" Type="http://schemas.openxmlformats.org/officeDocument/2006/relationships/image" Target="../media/image23.png"/><Relationship Id="rId7" Type="http://schemas.openxmlformats.org/officeDocument/2006/relationships/image" Target="../media/image22.png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Relationship Id="rId3" Type="http://schemas.openxmlformats.org/officeDocument/2006/relationships/image" Target="../media/image18.png"/><Relationship Id="rId2" Type="http://schemas.openxmlformats.org/officeDocument/2006/relationships/image" Target="../media/image17.jpeg"/><Relationship Id="rId11" Type="http://schemas.openxmlformats.org/officeDocument/2006/relationships/notesSlide" Target="../notesSlides/notesSlide7.xml"/><Relationship Id="rId10" Type="http://schemas.openxmlformats.org/officeDocument/2006/relationships/slideLayout" Target="../slideLayouts/slideLayout2.xml"/><Relationship Id="rId1" Type="http://schemas.openxmlformats.org/officeDocument/2006/relationships/image" Target="../media/image16.jpeg"/></Relationships>
</file>

<file path=ppt/slides/_rels/slide8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8.xml"/><Relationship Id="rId6" Type="http://schemas.openxmlformats.org/officeDocument/2006/relationships/slideLayout" Target="../slideLayouts/slideLayout2.xml"/><Relationship Id="rId5" Type="http://schemas.openxmlformats.org/officeDocument/2006/relationships/image" Target="../media/image28.png"/><Relationship Id="rId4" Type="http://schemas.openxmlformats.org/officeDocument/2006/relationships/image" Target="../media/image27.png"/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image" Target="../media/image1.png"/></Relationships>
</file>

<file path=ppt/slides/_rels/slide9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9.xml"/><Relationship Id="rId6" Type="http://schemas.openxmlformats.org/officeDocument/2006/relationships/slideLayout" Target="../slideLayouts/slideLayout2.xml"/><Relationship Id="rId5" Type="http://schemas.openxmlformats.org/officeDocument/2006/relationships/image" Target="../media/image29.png"/><Relationship Id="rId4" Type="http://schemas.openxmlformats.org/officeDocument/2006/relationships/image" Target="../media/image28.png"/><Relationship Id="rId3" Type="http://schemas.openxmlformats.org/officeDocument/2006/relationships/image" Target="../media/image27.png"/><Relationship Id="rId2" Type="http://schemas.openxmlformats.org/officeDocument/2006/relationships/image" Target="../media/image25.png"/><Relationship Id="rId1" Type="http://schemas.openxmlformats.org/officeDocument/2006/relationships/image" Target="../media/image1.png"/></Relationships>
</file>

<file path=ppt/slides/_rels/slide10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10.xml"/><Relationship Id="rId6" Type="http://schemas.openxmlformats.org/officeDocument/2006/relationships/slideLayout" Target="../slideLayouts/slideLayout2.xml"/><Relationship Id="rId5" Type="http://schemas.openxmlformats.org/officeDocument/2006/relationships/image" Target="../media/image30.png"/><Relationship Id="rId4" Type="http://schemas.openxmlformats.org/officeDocument/2006/relationships/image" Target="../media/image28.png"/><Relationship Id="rId3" Type="http://schemas.openxmlformats.org/officeDocument/2006/relationships/image" Target="../media/image27.png"/><Relationship Id="rId2" Type="http://schemas.openxmlformats.org/officeDocument/2006/relationships/image" Target="../media/image25.png"/><Relationship Id="rId1" Type="http://schemas.openxmlformats.org/officeDocument/2006/relationships/image" Target="../media/image1.png"/></Relationships>
</file>

<file path=ppt/slides/_rels/slide11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11.xml"/><Relationship Id="rId6" Type="http://schemas.openxmlformats.org/officeDocument/2006/relationships/slideLayout" Target="../slideLayouts/slideLayout2.xml"/><Relationship Id="rId5" Type="http://schemas.openxmlformats.org/officeDocument/2006/relationships/image" Target="../media/image31.png"/><Relationship Id="rId4" Type="http://schemas.openxmlformats.org/officeDocument/2006/relationships/image" Target="../media/image28.png"/><Relationship Id="rId3" Type="http://schemas.openxmlformats.org/officeDocument/2006/relationships/image" Target="../media/image27.png"/><Relationship Id="rId2" Type="http://schemas.openxmlformats.org/officeDocument/2006/relationships/image" Target="../media/image25.png"/><Relationship Id="rId1" Type="http://schemas.openxmlformats.org/officeDocument/2006/relationships/image" Target="../media/image1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8.jpeg"/></Relationships>
</file>

<file path=ppt/slides/_rels/slide13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13.xml"/><Relationship Id="rId6" Type="http://schemas.openxmlformats.org/officeDocument/2006/relationships/slideLayout" Target="../slideLayouts/slideLayout2.xml"/><Relationship Id="rId5" Type="http://schemas.openxmlformats.org/officeDocument/2006/relationships/image" Target="../media/image36.png"/><Relationship Id="rId4" Type="http://schemas.openxmlformats.org/officeDocument/2006/relationships/image" Target="../media/image35.png"/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image" Target="../media/image32.jpeg"/></Relationships>
</file>

<file path=ppt/slides/_rels/slide14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4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37.png"/><Relationship Id="rId1" Type="http://schemas.openxmlformats.org/officeDocument/2006/relationships/image" Target="../media/image32.jpeg"/></Relationships>
</file>

<file path=ppt/slides/_rels/slide15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15.xml"/><Relationship Id="rId6" Type="http://schemas.openxmlformats.org/officeDocument/2006/relationships/slideLayout" Target="../slideLayouts/slideLayout2.xml"/><Relationship Id="rId5" Type="http://schemas.openxmlformats.org/officeDocument/2006/relationships/image" Target="../media/image41.png"/><Relationship Id="rId4" Type="http://schemas.openxmlformats.org/officeDocument/2006/relationships/image" Target="../media/image40.png"/><Relationship Id="rId3" Type="http://schemas.openxmlformats.org/officeDocument/2006/relationships/image" Target="../media/image39.png"/><Relationship Id="rId2" Type="http://schemas.openxmlformats.org/officeDocument/2006/relationships/image" Target="../media/image38.png"/><Relationship Id="rId1" Type="http://schemas.openxmlformats.org/officeDocument/2006/relationships/image" Target="../media/image16.jpe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6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8.jpe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7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2.jpeg"/></Relationships>
</file>

<file path=ppt/slides/_rels/slide18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18.xml"/><Relationship Id="rId8" Type="http://schemas.openxmlformats.org/officeDocument/2006/relationships/slideLayout" Target="../slideLayouts/slideLayout2.xml"/><Relationship Id="rId7" Type="http://schemas.openxmlformats.org/officeDocument/2006/relationships/image" Target="../media/image48.png"/><Relationship Id="rId6" Type="http://schemas.openxmlformats.org/officeDocument/2006/relationships/image" Target="../media/image47.png"/><Relationship Id="rId5" Type="http://schemas.openxmlformats.org/officeDocument/2006/relationships/image" Target="../media/image46.png"/><Relationship Id="rId4" Type="http://schemas.openxmlformats.org/officeDocument/2006/relationships/image" Target="../media/image45.png"/><Relationship Id="rId3" Type="http://schemas.openxmlformats.org/officeDocument/2006/relationships/image" Target="../media/image44.png"/><Relationship Id="rId2" Type="http://schemas.openxmlformats.org/officeDocument/2006/relationships/image" Target="../media/image27.png"/><Relationship Id="rId1" Type="http://schemas.openxmlformats.org/officeDocument/2006/relationships/image" Target="../media/image43.png"/></Relationships>
</file>

<file path=ppt/slides/_rels/slide19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9.xml"/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51.png"/><Relationship Id="rId2" Type="http://schemas.openxmlformats.org/officeDocument/2006/relationships/image" Target="../media/image50.png"/><Relationship Id="rId1" Type="http://schemas.openxmlformats.org/officeDocument/2006/relationships/image" Target="../media/image49.jpeg"/></Relationships>
</file>

<file path=ppt/slides/_rels/slide20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20.xml"/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53.png"/><Relationship Id="rId2" Type="http://schemas.openxmlformats.org/officeDocument/2006/relationships/image" Target="../media/image6.png"/><Relationship Id="rId1" Type="http://schemas.openxmlformats.org/officeDocument/2006/relationships/image" Target="../media/image52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1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5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>
            <a:lum/>
          </a:blip>
          <a:srcRect/>
          <a:stretch>
            <a:fillRect t="-12000" b="-12000"/>
          </a:stretch>
        </a:blipFill>
        <a:effectLst/>
      </p:bgPr>
    </p:bg>
    <p:spTree>
      <p:nvGrpSpPr>
        <p:cNvPr id="1" name=""/>
        <p:cNvGrpSpPr/>
        <p:nvPr/>
      </p:nvGrpSpPr>
      <p:grpSpPr/>
      <p:pic>
        <p:nvPicPr>
          <p:cNvPr id="20" name="图片 1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75695" y="3818786"/>
            <a:ext cx="5105466" cy="2179482"/>
          </a:xfrm>
          <a:prstGeom prst="rect">
            <a:avLst/>
          </a:prstGeom>
        </p:spPr>
      </p:pic>
      <p:pic>
        <p:nvPicPr>
          <p:cNvPr id="22" name="图片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87777" y="4400725"/>
            <a:ext cx="861884" cy="656061"/>
          </a:xfrm>
          <a:prstGeom prst="rect">
            <a:avLst/>
          </a:prstGeom>
        </p:spPr>
      </p:pic>
      <p:pic>
        <p:nvPicPr>
          <p:cNvPr id="23" name="图片 8"/>
          <p:cNvPicPr>
            <a:picLocks noChangeAspect="1"/>
          </p:cNvPicPr>
          <p:nvPr/>
        </p:nvPicPr>
        <p:blipFill>
          <a:blip r:embed="rId3">
            <a:duotone>
              <a:schemeClr val="accent2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10486525" y="485787"/>
            <a:ext cx="861884" cy="656061"/>
          </a:xfrm>
          <a:prstGeom prst="rect">
            <a:avLst/>
          </a:prstGeom>
        </p:spPr>
      </p:pic>
      <p:pic>
        <p:nvPicPr>
          <p:cNvPr id="24" name="图片 9"/>
          <p:cNvPicPr>
            <a:picLocks noChangeAspect="1"/>
          </p:cNvPicPr>
          <p:nvPr/>
        </p:nvPicPr>
        <p:blipFill>
          <a:blip r:embed="rId3">
            <a:duotone>
              <a:schemeClr val="accent5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636279" y="636678"/>
            <a:ext cx="861884" cy="656061"/>
          </a:xfrm>
          <a:prstGeom prst="rect">
            <a:avLst/>
          </a:prstGeom>
        </p:spPr>
      </p:pic>
      <p:pic>
        <p:nvPicPr>
          <p:cNvPr id="25" name="图片 4"/>
          <p:cNvPicPr>
            <a:picLocks noChangeAspect="1"/>
          </p:cNvPicPr>
          <p:nvPr/>
        </p:nvPicPr>
        <p:blipFill>
          <a:blip r:embed="rId4"/>
          <a:srcRect l="1488" t="8961" r="2268" b="18545"/>
          <a:stretch>
            <a:fillRect/>
          </a:stretch>
        </p:blipFill>
        <p:spPr>
          <a:xfrm>
            <a:off x="2266373" y="1453003"/>
            <a:ext cx="7659254" cy="2713707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6170331" y="4370644"/>
            <a:ext cx="431619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solidFill>
                  <a:schemeClr val="accent2">
                    <a:lumMod val="50000"/>
                  </a:schemeClr>
                </a:solidFill>
                <a:latin typeface="IPix" panose="02000503000000000000" pitchFamily="2" charset="-120"/>
                <a:ea typeface="IPix" panose="02000503000000000000" pitchFamily="2" charset="-120"/>
              </a:rPr>
              <a:t>汇报小组：</a:t>
            </a:r>
            <a:r>
              <a:rPr lang="en-US" altLang="zh-CN" sz="2400" b="1" dirty="0" err="1">
                <a:solidFill>
                  <a:schemeClr val="accent2">
                    <a:lumMod val="50000"/>
                  </a:schemeClr>
                </a:solidFill>
                <a:latin typeface="IPix" panose="02000503000000000000" pitchFamily="2" charset="-120"/>
                <a:ea typeface="IPix" panose="02000503000000000000" pitchFamily="2" charset="-120"/>
              </a:rPr>
              <a:t>sbaem</a:t>
            </a:r>
            <a:r>
              <a:rPr lang="zh-CN" altLang="en-US" sz="2400" b="1" dirty="0">
                <a:solidFill>
                  <a:schemeClr val="accent2">
                    <a:lumMod val="50000"/>
                  </a:schemeClr>
                </a:solidFill>
                <a:latin typeface="IPix" panose="02000503000000000000" pitchFamily="2" charset="-120"/>
                <a:ea typeface="IPix" panose="02000503000000000000" pitchFamily="2" charset="-120"/>
              </a:rPr>
              <a:t>游戏管家</a:t>
            </a:r>
            <a:endParaRPr lang="zh-CN" altLang="en-US" sz="2400" b="1" dirty="0">
              <a:solidFill>
                <a:schemeClr val="accent2">
                  <a:lumMod val="50000"/>
                </a:schemeClr>
              </a:solidFill>
              <a:latin typeface="IPix" panose="02000503000000000000" pitchFamily="2" charset="-120"/>
              <a:ea typeface="IPix" panose="02000503000000000000" pitchFamily="2" charset="-12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2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22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22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pic>
        <p:nvPicPr>
          <p:cNvPr id="18" name="内容占位符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0919" y="544164"/>
            <a:ext cx="4816501" cy="1569659"/>
          </a:xfrm>
          <a:prstGeom prst="rect">
            <a:avLst/>
          </a:prstGeom>
        </p:spPr>
      </p:pic>
      <p:sp>
        <p:nvSpPr>
          <p:cNvPr id="5" name="文本框 4"/>
          <p:cNvSpPr>
            <a:spLocks noGrp="1"/>
          </p:cNvSpPr>
          <p:nvPr/>
        </p:nvSpPr>
        <p:spPr>
          <a:xfrm>
            <a:off x="836712" y="731454"/>
            <a:ext cx="4484915" cy="11079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0" b="1">
                <a:solidFill>
                  <a:srgbClr val="713503"/>
                </a:solidFill>
                <a:latin typeface="IPix"/>
                <a:ea typeface="IPix"/>
                <a:cs typeface="IPix"/>
              </a:rPr>
              <a:t>目录 content</a:t>
            </a:r>
            <a:endParaRPr sz="6000" b="1">
              <a:solidFill>
                <a:srgbClr val="713503"/>
              </a:solidFill>
              <a:latin typeface="IPix"/>
              <a:ea typeface="IPix"/>
              <a:cs typeface="IPix"/>
            </a:endParaRPr>
          </a:p>
        </p:txBody>
      </p:sp>
      <p:pic>
        <p:nvPicPr>
          <p:cNvPr id="20" name="图片 3"/>
          <p:cNvPicPr>
            <a:picLocks noChangeAspect="1"/>
          </p:cNvPicPr>
          <p:nvPr/>
        </p:nvPicPr>
        <p:blipFill>
          <a:blip r:embed="rId3">
            <a:alphaModFix amt="85000"/>
          </a:blip>
          <a:stretch>
            <a:fillRect/>
          </a:stretch>
        </p:blipFill>
        <p:spPr>
          <a:xfrm>
            <a:off x="635647" y="2479310"/>
            <a:ext cx="4887044" cy="4123413"/>
          </a:xfrm>
          <a:prstGeom prst="rect">
            <a:avLst/>
          </a:prstGeom>
        </p:spPr>
      </p:pic>
      <p:sp>
        <p:nvSpPr>
          <p:cNvPr id="10" name="直接连接符 9"/>
          <p:cNvSpPr>
            <a:spLocks noGrp="1"/>
          </p:cNvSpPr>
          <p:nvPr/>
        </p:nvSpPr>
        <p:spPr>
          <a:xfrm flipH="1" flipV="1">
            <a:off x="5660571" y="101600"/>
            <a:ext cx="43441" cy="6501123"/>
          </a:xfrm>
          <a:prstGeom prst="line">
            <a:avLst/>
          </a:prstGeom>
          <a:ln w="57150">
            <a:solidFill>
              <a:srgbClr val="FEFDB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pic>
        <p:nvPicPr>
          <p:cNvPr id="22" name="内容占位符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41891" y="629746"/>
            <a:ext cx="5747765" cy="907965"/>
          </a:xfrm>
          <a:prstGeom prst="rect">
            <a:avLst/>
          </a:prstGeom>
        </p:spPr>
      </p:pic>
      <p:pic>
        <p:nvPicPr>
          <p:cNvPr id="23" name="内容占位符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41892" y="2157324"/>
            <a:ext cx="5747765" cy="907965"/>
          </a:xfrm>
          <a:prstGeom prst="rect">
            <a:avLst/>
          </a:prstGeom>
        </p:spPr>
      </p:pic>
      <p:pic>
        <p:nvPicPr>
          <p:cNvPr id="24" name="内容占位符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41892" y="3725650"/>
            <a:ext cx="5747765" cy="907965"/>
          </a:xfrm>
          <a:prstGeom prst="rect">
            <a:avLst/>
          </a:prstGeom>
        </p:spPr>
      </p:pic>
      <p:pic>
        <p:nvPicPr>
          <p:cNvPr id="25" name="内容占位符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41892" y="5267748"/>
            <a:ext cx="5747765" cy="881737"/>
          </a:xfrm>
          <a:prstGeom prst="rect">
            <a:avLst/>
          </a:prstGeom>
        </p:spPr>
      </p:pic>
      <p:sp>
        <p:nvSpPr>
          <p:cNvPr id="7" name="文本框 6"/>
          <p:cNvSpPr>
            <a:spLocks noGrp="1"/>
          </p:cNvSpPr>
          <p:nvPr/>
        </p:nvSpPr>
        <p:spPr>
          <a:xfrm>
            <a:off x="6022348" y="3830239"/>
            <a:ext cx="609728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>
                <a:solidFill>
                  <a:srgbClr val="713503"/>
                </a:solidFill>
                <a:latin typeface="IPix"/>
                <a:ea typeface="IPix"/>
                <a:cs typeface="IPix"/>
              </a:rPr>
              <a:t>03. 游戏系统设计</a:t>
            </a:r>
            <a:endParaRPr sz="3600">
              <a:solidFill>
                <a:srgbClr val="713503"/>
              </a:solidFill>
              <a:latin typeface="IPix"/>
              <a:ea typeface="IPix"/>
              <a:cs typeface="IPix"/>
            </a:endParaRPr>
          </a:p>
        </p:txBody>
      </p:sp>
      <p:sp>
        <p:nvSpPr>
          <p:cNvPr id="8" name="文本框 7"/>
          <p:cNvSpPr>
            <a:spLocks noGrp="1"/>
          </p:cNvSpPr>
          <p:nvPr/>
        </p:nvSpPr>
        <p:spPr>
          <a:xfrm>
            <a:off x="5967280" y="5352951"/>
            <a:ext cx="609728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>
                <a:solidFill>
                  <a:srgbClr val="713503"/>
                </a:solidFill>
                <a:latin typeface="IPix"/>
                <a:ea typeface="IPix"/>
                <a:cs typeface="IPix"/>
              </a:rPr>
              <a:t>04. UI与美术呈现</a:t>
            </a:r>
            <a:endParaRPr sz="3600">
              <a:solidFill>
                <a:srgbClr val="713503"/>
              </a:solidFill>
              <a:latin typeface="IPix"/>
              <a:ea typeface="IPix"/>
              <a:cs typeface="IPix"/>
            </a:endParaRPr>
          </a:p>
        </p:txBody>
      </p:sp>
      <p:sp>
        <p:nvSpPr>
          <p:cNvPr id="9" name="文本框 8"/>
          <p:cNvSpPr>
            <a:spLocks noGrp="1"/>
          </p:cNvSpPr>
          <p:nvPr/>
        </p:nvSpPr>
        <p:spPr>
          <a:xfrm>
            <a:off x="6012104" y="2275511"/>
            <a:ext cx="609728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>
                <a:solidFill>
                  <a:srgbClr val="713503"/>
                </a:solidFill>
                <a:latin typeface="IPix"/>
                <a:ea typeface="IPix"/>
                <a:cs typeface="IPix"/>
              </a:rPr>
              <a:t>02. 游戏策划灵感</a:t>
            </a:r>
            <a:endParaRPr sz="3600">
              <a:solidFill>
                <a:srgbClr val="713503"/>
              </a:solidFill>
              <a:latin typeface="IPix"/>
              <a:ea typeface="IPix"/>
              <a:cs typeface="IPix"/>
            </a:endParaRPr>
          </a:p>
        </p:txBody>
      </p:sp>
      <p:sp>
        <p:nvSpPr>
          <p:cNvPr id="11" name="文本框 10"/>
          <p:cNvSpPr>
            <a:spLocks noGrp="1"/>
          </p:cNvSpPr>
          <p:nvPr/>
        </p:nvSpPr>
        <p:spPr>
          <a:xfrm>
            <a:off x="6041560" y="752799"/>
            <a:ext cx="609728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>
                <a:solidFill>
                  <a:srgbClr val="713503"/>
                </a:solidFill>
                <a:latin typeface="IPix"/>
                <a:ea typeface="IPix"/>
                <a:cs typeface="IPix"/>
              </a:rPr>
              <a:t>01. 游戏展示</a:t>
            </a:r>
            <a:endParaRPr sz="3600">
              <a:solidFill>
                <a:srgbClr val="713503"/>
              </a:solidFill>
              <a:latin typeface="IPix"/>
              <a:ea typeface="IPix"/>
              <a:cs typeface="IPix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>
            <a:lum/>
          </a:blip>
          <a:srcRect/>
          <a:stretch>
            <a:fillRect t="-2000" b="-2000"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6" name="文本框 5"/>
          <p:cNvSpPr>
            <a:spLocks noGrp="1"/>
          </p:cNvSpPr>
          <p:nvPr/>
        </p:nvSpPr>
        <p:spPr>
          <a:xfrm>
            <a:off x="3077029" y="1284514"/>
            <a:ext cx="6074228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200" b="1">
                <a:solidFill>
                  <a:srgbClr val="713503"/>
                </a:solidFill>
                <a:latin typeface="IPix"/>
                <a:ea typeface="IPix"/>
                <a:cs typeface="IPix"/>
              </a:rPr>
              <a:t>PART  ONE</a:t>
            </a:r>
            <a:endParaRPr sz="7200" b="1">
              <a:solidFill>
                <a:srgbClr val="713503"/>
              </a:solidFill>
              <a:latin typeface="IPix"/>
              <a:ea typeface="IPix"/>
              <a:cs typeface="IPix"/>
            </a:endParaRPr>
          </a:p>
        </p:txBody>
      </p:sp>
      <p:sp>
        <p:nvSpPr>
          <p:cNvPr id="2" name="文本框 1"/>
          <p:cNvSpPr>
            <a:spLocks noGrp="1"/>
          </p:cNvSpPr>
          <p:nvPr/>
        </p:nvSpPr>
        <p:spPr>
          <a:xfrm>
            <a:off x="3048640" y="3246255"/>
            <a:ext cx="609728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sz="4800">
                <a:solidFill>
                  <a:srgbClr val="754514"/>
                </a:solidFill>
                <a:latin typeface="IPix"/>
                <a:ea typeface="IPix"/>
                <a:cs typeface="IPix"/>
              </a:rPr>
              <a:t>游戏展示</a:t>
            </a:r>
            <a:endParaRPr sz="4800">
              <a:solidFill>
                <a:srgbClr val="754514"/>
              </a:solidFill>
              <a:latin typeface="IPix"/>
              <a:ea typeface="IPix"/>
              <a:cs typeface="IPix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>
            <a:lum/>
          </a:blip>
          <a:srcRect/>
          <a:stretch>
            <a:fillRect t="-2000" b="-2000"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6" name="文本框 5"/>
          <p:cNvSpPr>
            <a:spLocks noGrp="1"/>
          </p:cNvSpPr>
          <p:nvPr/>
        </p:nvSpPr>
        <p:spPr>
          <a:xfrm>
            <a:off x="2823028" y="1351749"/>
            <a:ext cx="6545943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200" b="1">
                <a:solidFill>
                  <a:srgbClr val="713503"/>
                </a:solidFill>
                <a:latin typeface="IPix"/>
                <a:ea typeface="IPix"/>
                <a:cs typeface="IPix"/>
              </a:rPr>
              <a:t>PART  TWO</a:t>
            </a:r>
            <a:endParaRPr sz="7200" b="1">
              <a:solidFill>
                <a:srgbClr val="713503"/>
              </a:solidFill>
              <a:latin typeface="IPix"/>
              <a:ea typeface="IPix"/>
              <a:cs typeface="IPix"/>
            </a:endParaRPr>
          </a:p>
        </p:txBody>
      </p:sp>
      <p:sp>
        <p:nvSpPr>
          <p:cNvPr id="4" name="文本框 3"/>
          <p:cNvSpPr>
            <a:spLocks noGrp="1"/>
          </p:cNvSpPr>
          <p:nvPr/>
        </p:nvSpPr>
        <p:spPr>
          <a:xfrm>
            <a:off x="3048640" y="3246255"/>
            <a:ext cx="609728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sz="4800">
                <a:solidFill>
                  <a:srgbClr val="754514"/>
                </a:solidFill>
                <a:latin typeface="IPix"/>
                <a:ea typeface="IPix"/>
                <a:cs typeface="IPix"/>
              </a:rPr>
              <a:t>游戏策划灵感</a:t>
            </a:r>
            <a:endParaRPr sz="4800">
              <a:solidFill>
                <a:srgbClr val="754514"/>
              </a:solidFill>
              <a:latin typeface="IPix"/>
              <a:ea typeface="IPix"/>
              <a:cs typeface="IPix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4370934" y="4577054"/>
            <a:ext cx="553954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2800" dirty="0">
                <a:solidFill>
                  <a:srgbClr val="754514"/>
                </a:solidFill>
                <a:latin typeface="IPix" panose="02000503000000000000" pitchFamily="2" charset="-120"/>
                <a:ea typeface="IPix" panose="02000503000000000000" pitchFamily="2" charset="-120"/>
              </a:rPr>
              <a:t>汇报人：高致远</a:t>
            </a:r>
            <a:endParaRPr lang="zh-CN" altLang="en-US" sz="4800" dirty="0">
              <a:solidFill>
                <a:srgbClr val="754514"/>
              </a:solidFill>
              <a:latin typeface="IPix" panose="02000503000000000000" pitchFamily="2" charset="-120"/>
              <a:ea typeface="IPix" panose="02000503000000000000" pitchFamily="2" charset="-12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>
            <a:lum/>
          </a:blip>
          <a:srcRect/>
          <a:stretch>
            <a:fillRect t="-12000" b="-12000"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4" name="矩形: 圆角 3"/>
          <p:cNvSpPr>
            <a:spLocks noGrp="1"/>
          </p:cNvSpPr>
          <p:nvPr/>
        </p:nvSpPr>
        <p:spPr>
          <a:xfrm>
            <a:off x="461042" y="1874904"/>
            <a:ext cx="11349318" cy="4479792"/>
          </a:xfrm>
          <a:prstGeom prst="roundRect">
            <a:avLst/>
          </a:prstGeom>
          <a:solidFill>
            <a:srgbClr val="FAEBC2"/>
          </a:solidFill>
          <a:ln w="31750">
            <a:solidFill>
              <a:srgbClr val="75451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pic>
        <p:nvPicPr>
          <p:cNvPr id="25" name="图片 6"/>
          <p:cNvPicPr>
            <a:picLocks noChangeAspect="1"/>
          </p:cNvPicPr>
          <p:nvPr/>
        </p:nvPicPr>
        <p:blipFill>
          <a:blip r:embed="rId2">
            <a:alphaModFix amt="20000"/>
          </a:blip>
          <a:stretch>
            <a:fillRect/>
          </a:stretch>
        </p:blipFill>
        <p:spPr>
          <a:xfrm>
            <a:off x="699566" y="2255103"/>
            <a:ext cx="3472863" cy="3472863"/>
          </a:xfrm>
          <a:prstGeom prst="rect">
            <a:avLst/>
          </a:prstGeom>
        </p:spPr>
      </p:pic>
      <p:pic>
        <p:nvPicPr>
          <p:cNvPr id="26" name="图片 8"/>
          <p:cNvPicPr>
            <a:picLocks noChangeAspect="1"/>
          </p:cNvPicPr>
          <p:nvPr/>
        </p:nvPicPr>
        <p:blipFill>
          <a:blip r:embed="rId3">
            <a:alphaModFix amt="20000"/>
          </a:blip>
          <a:stretch>
            <a:fillRect/>
          </a:stretch>
        </p:blipFill>
        <p:spPr>
          <a:xfrm>
            <a:off x="4410953" y="2255103"/>
            <a:ext cx="3472864" cy="3472864"/>
          </a:xfrm>
          <a:prstGeom prst="rect">
            <a:avLst/>
          </a:prstGeom>
        </p:spPr>
      </p:pic>
      <p:sp>
        <p:nvSpPr>
          <p:cNvPr id="12" name="文本框 11"/>
          <p:cNvSpPr>
            <a:spLocks noGrp="1"/>
          </p:cNvSpPr>
          <p:nvPr/>
        </p:nvSpPr>
        <p:spPr>
          <a:xfrm>
            <a:off x="699566" y="2406640"/>
            <a:ext cx="3418646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>
                <a:solidFill>
                  <a:srgbClr val="754514"/>
                </a:solidFill>
                <a:latin typeface="IPix"/>
                <a:ea typeface="IPix"/>
                <a:cs typeface="IPix"/>
              </a:rPr>
              <a:t>项目定位</a:t>
            </a:r>
            <a:endParaRPr b="1">
              <a:solidFill>
                <a:srgbClr val="754514"/>
              </a:solidFill>
              <a:latin typeface="IPix"/>
              <a:ea typeface="IPix"/>
              <a:cs typeface="IPix"/>
            </a:endParaRPr>
          </a:p>
          <a:p>
            <a:r>
              <a:rPr b="1">
                <a:solidFill>
                  <a:srgbClr val="754514"/>
                </a:solidFill>
                <a:latin typeface="IPix"/>
                <a:ea typeface="IPix"/>
                <a:cs typeface="IPix"/>
              </a:rPr>
              <a:t>以校园夜市为主题的回合制经营策略游戏。玩家通过掷骰移动、到达地块、购买夜市、建设摊位和夜晚结算，在限定天数内完成资金目标。</a:t>
            </a:r>
            <a:endParaRPr b="1">
              <a:solidFill>
                <a:srgbClr val="754514"/>
              </a:solidFill>
              <a:latin typeface="IPix"/>
              <a:ea typeface="IPix"/>
              <a:cs typeface="IPix"/>
            </a:endParaRPr>
          </a:p>
        </p:txBody>
      </p:sp>
      <p:sp>
        <p:nvSpPr>
          <p:cNvPr id="13" name="文本框 12"/>
          <p:cNvSpPr>
            <a:spLocks noGrp="1"/>
          </p:cNvSpPr>
          <p:nvPr/>
        </p:nvSpPr>
        <p:spPr>
          <a:xfrm>
            <a:off x="4480538" y="2255103"/>
            <a:ext cx="3418646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>
                <a:solidFill>
                  <a:srgbClr val="754514"/>
                </a:solidFill>
                <a:latin typeface="IPix"/>
                <a:ea typeface="IPix"/>
                <a:cs typeface="IPix"/>
              </a:rPr>
              <a:t>核心体验</a:t>
            </a:r>
            <a:endParaRPr b="1">
              <a:solidFill>
                <a:srgbClr val="754514"/>
              </a:solidFill>
              <a:latin typeface="IPix"/>
              <a:ea typeface="IPix"/>
              <a:cs typeface="IPix"/>
            </a:endParaRPr>
          </a:p>
          <a:p>
            <a:r>
              <a:rPr b="1">
                <a:solidFill>
                  <a:srgbClr val="754514"/>
                </a:solidFill>
                <a:latin typeface="IPix"/>
                <a:ea typeface="IPix"/>
                <a:cs typeface="IPix"/>
              </a:rPr>
              <a:t>白天在地图上规划路线并触发事件；夜晚经营夜市并获得收益。玩家需要平衡金钱、食材、体力、口碑和贷款压力。</a:t>
            </a:r>
            <a:endParaRPr b="1">
              <a:solidFill>
                <a:srgbClr val="754514"/>
              </a:solidFill>
              <a:latin typeface="IPix"/>
              <a:ea typeface="IPix"/>
              <a:cs typeface="IPix"/>
            </a:endParaRPr>
          </a:p>
        </p:txBody>
      </p:sp>
      <p:pic>
        <p:nvPicPr>
          <p:cNvPr id="29" name="图片 14"/>
          <p:cNvPicPr>
            <a:picLocks noChangeAspect="1"/>
          </p:cNvPicPr>
          <p:nvPr/>
        </p:nvPicPr>
        <p:blipFill>
          <a:blip r:embed="rId4">
            <a:alphaModFix amt="20000"/>
          </a:blip>
          <a:stretch>
            <a:fillRect/>
          </a:stretch>
        </p:blipFill>
        <p:spPr>
          <a:xfrm>
            <a:off x="8122341" y="2247418"/>
            <a:ext cx="3488231" cy="3488231"/>
          </a:xfrm>
          <a:prstGeom prst="rect">
            <a:avLst/>
          </a:prstGeom>
        </p:spPr>
      </p:pic>
      <p:sp>
        <p:nvSpPr>
          <p:cNvPr id="16" name="文本框 15"/>
          <p:cNvSpPr>
            <a:spLocks noGrp="1"/>
          </p:cNvSpPr>
          <p:nvPr/>
        </p:nvSpPr>
        <p:spPr>
          <a:xfrm>
            <a:off x="8291820" y="2283373"/>
            <a:ext cx="3418646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>
                <a:solidFill>
                  <a:srgbClr val="754514"/>
                </a:solidFill>
                <a:latin typeface="IPix"/>
                <a:ea typeface="IPix"/>
                <a:cs typeface="IPix"/>
              </a:rPr>
              <a:t>答辩重点</a:t>
            </a:r>
            <a:endParaRPr b="1">
              <a:solidFill>
                <a:srgbClr val="754514"/>
              </a:solidFill>
              <a:latin typeface="IPix"/>
              <a:ea typeface="IPix"/>
              <a:cs typeface="IPix"/>
            </a:endParaRPr>
          </a:p>
          <a:p>
            <a:r>
              <a:rPr b="1">
                <a:solidFill>
                  <a:srgbClr val="754514"/>
                </a:solidFill>
                <a:latin typeface="IPix"/>
                <a:ea typeface="IPix"/>
                <a:cs typeface="IPix"/>
              </a:rPr>
              <a:t>本版本已经形成完整闭环：主菜单进入游戏、地图移动、地块信息、夜市购买、摊位建设、随机事件、天气、卫生检查与胜负判断。</a:t>
            </a:r>
            <a:endParaRPr b="1">
              <a:solidFill>
                <a:srgbClr val="754514"/>
              </a:solidFill>
              <a:latin typeface="IPix"/>
              <a:ea typeface="IPix"/>
              <a:cs typeface="IPix"/>
            </a:endParaRPr>
          </a:p>
        </p:txBody>
      </p:sp>
      <p:pic>
        <p:nvPicPr>
          <p:cNvPr id="31" name="图片 1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87475" y="268267"/>
            <a:ext cx="3296452" cy="1550093"/>
          </a:xfrm>
          <a:prstGeom prst="rect">
            <a:avLst/>
          </a:prstGeom>
        </p:spPr>
      </p:pic>
      <p:pic>
        <p:nvPicPr>
          <p:cNvPr id="32" name="图片 17"/>
          <p:cNvPicPr>
            <a:picLocks noChangeAspect="1"/>
          </p:cNvPicPr>
          <p:nvPr/>
        </p:nvPicPr>
        <p:blipFill>
          <a:blip r:embed="rId6">
            <a:duotone>
              <a:schemeClr val="accent5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7102402" y="5755179"/>
            <a:ext cx="861884" cy="656061"/>
          </a:xfrm>
          <a:prstGeom prst="rect">
            <a:avLst/>
          </a:prstGeom>
        </p:spPr>
      </p:pic>
      <p:pic>
        <p:nvPicPr>
          <p:cNvPr id="33" name="图片 18"/>
          <p:cNvPicPr>
            <a:picLocks noChangeAspect="1"/>
          </p:cNvPicPr>
          <p:nvPr/>
        </p:nvPicPr>
        <p:blipFill>
          <a:blip r:embed="rId6">
            <a:duotone>
              <a:schemeClr val="accent2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1032718" y="592113"/>
            <a:ext cx="861884" cy="656061"/>
          </a:xfrm>
          <a:prstGeom prst="rect">
            <a:avLst/>
          </a:prstGeom>
        </p:spPr>
      </p:pic>
      <p:pic>
        <p:nvPicPr>
          <p:cNvPr id="34" name="图片 19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435514" y="1158307"/>
            <a:ext cx="861884" cy="656061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pic>
        <p:nvPicPr>
          <p:cNvPr id="19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02288" y="1051430"/>
            <a:ext cx="1857614" cy="1238409"/>
          </a:xfrm>
          <a:prstGeom prst="rect">
            <a:avLst/>
          </a:prstGeom>
          <a:ln w="104775">
            <a:solidFill>
              <a:srgbClr val="754514"/>
            </a:solidFill>
          </a:ln>
        </p:spPr>
      </p:pic>
      <p:sp>
        <p:nvSpPr>
          <p:cNvPr id="7" name="文本框 6"/>
          <p:cNvSpPr>
            <a:spLocks noGrp="1"/>
          </p:cNvSpPr>
          <p:nvPr/>
        </p:nvSpPr>
        <p:spPr>
          <a:xfrm>
            <a:off x="1158369" y="2944649"/>
            <a:ext cx="2906486" cy="32316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sz="2400" b="1" i="0">
                <a:solidFill>
                  <a:srgbClr val="713503"/>
                </a:solidFill>
                <a:latin typeface="IPix"/>
                <a:ea typeface="IPix"/>
                <a:cs typeface="IPix"/>
              </a:rPr>
              <a:t>校园夜市</a:t>
            </a:r>
            <a:endParaRPr sz="2400" b="1" i="0">
              <a:solidFill>
                <a:srgbClr val="713503"/>
              </a:solidFill>
              <a:latin typeface="IPix"/>
              <a:ea typeface="IPix"/>
              <a:cs typeface="IPix"/>
            </a:endParaRPr>
          </a:p>
          <a:p>
            <a:pPr algn="l">
              <a:buNone/>
            </a:pPr>
            <a:r>
              <a:rPr b="1" i="0">
                <a:solidFill>
                  <a:srgbClr val="713503"/>
                </a:solidFill>
                <a:latin typeface="IPix"/>
                <a:ea typeface="IPix"/>
                <a:cs typeface="IPix"/>
              </a:rPr>
              <a:t>题材来自校园生活中的夜市、摊位、社团活动和学生消费场景，让经营目标更贴近玩家经验。</a:t>
            </a:r>
            <a:endParaRPr b="1" i="0">
              <a:solidFill>
                <a:srgbClr val="713503"/>
              </a:solidFill>
              <a:latin typeface="IPix"/>
              <a:ea typeface="IPix"/>
              <a:cs typeface="IPix"/>
            </a:endParaRPr>
          </a:p>
        </p:txBody>
      </p:sp>
      <p:pic>
        <p:nvPicPr>
          <p:cNvPr id="21" name="图片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42114" y="1051430"/>
            <a:ext cx="1911722" cy="1238409"/>
          </a:xfrm>
          <a:prstGeom prst="rect">
            <a:avLst/>
          </a:prstGeom>
          <a:ln w="104775">
            <a:solidFill>
              <a:srgbClr val="754514"/>
            </a:solidFill>
          </a:ln>
        </p:spPr>
      </p:pic>
      <p:sp>
        <p:nvSpPr>
          <p:cNvPr id="11" name="文本框 10"/>
          <p:cNvSpPr>
            <a:spLocks noGrp="1"/>
          </p:cNvSpPr>
          <p:nvPr/>
        </p:nvSpPr>
        <p:spPr>
          <a:xfrm>
            <a:off x="5040565" y="2898545"/>
            <a:ext cx="3713310" cy="35086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713503"/>
                </a:solidFill>
                <a:latin typeface="IPix"/>
                <a:ea typeface="IPix"/>
                <a:cs typeface="IPix"/>
              </a:rPr>
              <a:t>大富翁式移动</a:t>
            </a:r>
            <a:endParaRPr sz="2400" b="1">
              <a:solidFill>
                <a:srgbClr val="713503"/>
              </a:solidFill>
              <a:latin typeface="IPix"/>
              <a:ea typeface="IPix"/>
              <a:cs typeface="IPix"/>
            </a:endParaRPr>
          </a:p>
          <a:p>
            <a:r>
              <a:rPr b="1">
                <a:solidFill>
                  <a:srgbClr val="713503"/>
                </a:solidFill>
                <a:latin typeface="IPix"/>
                <a:ea typeface="IPix"/>
                <a:cs typeface="IPix"/>
              </a:rPr>
              <a:t>采用掷骰和地块移动结构，让每一天都有路线选择、资源取舍和随机性。</a:t>
            </a:r>
            <a:endParaRPr b="1">
              <a:solidFill>
                <a:srgbClr val="713503"/>
              </a:solidFill>
              <a:latin typeface="IPix"/>
              <a:ea typeface="IPix"/>
              <a:cs typeface="IPix"/>
            </a:endParaRPr>
          </a:p>
        </p:txBody>
      </p:sp>
      <p:pic>
        <p:nvPicPr>
          <p:cNvPr id="23" name="图片 1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60647" y="1051431"/>
            <a:ext cx="1857614" cy="1238409"/>
          </a:xfrm>
          <a:prstGeom prst="rect">
            <a:avLst/>
          </a:prstGeom>
          <a:ln w="104775">
            <a:solidFill>
              <a:srgbClr val="754514"/>
            </a:solidFill>
          </a:ln>
        </p:spPr>
      </p:pic>
      <p:sp>
        <p:nvSpPr>
          <p:cNvPr id="15" name="文本框 14"/>
          <p:cNvSpPr>
            <a:spLocks noGrp="1"/>
          </p:cNvSpPr>
          <p:nvPr/>
        </p:nvSpPr>
        <p:spPr>
          <a:xfrm>
            <a:off x="9213155" y="2923261"/>
            <a:ext cx="2197635" cy="2123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713503"/>
                </a:solidFill>
                <a:latin typeface="IPix"/>
                <a:ea typeface="IPix"/>
                <a:cs typeface="IPix"/>
              </a:rPr>
              <a:t>模拟经营</a:t>
            </a:r>
            <a:endParaRPr sz="2400" b="1">
              <a:solidFill>
                <a:srgbClr val="713503"/>
              </a:solidFill>
              <a:latin typeface="IPix"/>
              <a:ea typeface="IPix"/>
              <a:cs typeface="IPix"/>
            </a:endParaRPr>
          </a:p>
          <a:p>
            <a:r>
              <a:rPr b="1">
                <a:solidFill>
                  <a:srgbClr val="713503"/>
                </a:solidFill>
                <a:latin typeface="IPix"/>
                <a:ea typeface="IPix"/>
                <a:cs typeface="IPix"/>
              </a:rPr>
              <a:t>夜市、摊位、客流、食材、天气和口碑共同影响收益，形成可解释的策略系统。</a:t>
            </a:r>
            <a:endParaRPr b="1">
              <a:solidFill>
                <a:srgbClr val="713503"/>
              </a:solidFill>
              <a:latin typeface="IPix"/>
              <a:ea typeface="IPix"/>
              <a:cs typeface="IPix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>
            <a:lum/>
          </a:blip>
          <a:srcRect/>
          <a:stretch>
            <a:fillRect t="-12000" b="-12000"/>
          </a:stretch>
        </a:blipFill>
        <a:effectLst/>
      </p:bgPr>
    </p:bg>
    <p:spTree>
      <p:nvGrpSpPr>
        <p:cNvPr id="1" name=""/>
        <p:cNvGrpSpPr/>
        <p:nvPr/>
      </p:nvGrpSpPr>
      <p:grpSpPr/>
      <p:pic>
        <p:nvPicPr>
          <p:cNvPr id="36" name="内容占位符 4"/>
          <p:cNvPicPr>
            <a:picLocks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68907" y="1469124"/>
            <a:ext cx="10454186" cy="5117567"/>
          </a:xfrm>
        </p:spPr>
      </p:pic>
      <p:pic>
        <p:nvPicPr>
          <p:cNvPr id="37" name="图片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76841"/>
            <a:ext cx="2635624" cy="1392283"/>
          </a:xfrm>
          <a:prstGeom prst="rect">
            <a:avLst/>
          </a:prstGeom>
        </p:spPr>
      </p:pic>
      <p:pic>
        <p:nvPicPr>
          <p:cNvPr id="38" name="图片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8214" y="1927391"/>
            <a:ext cx="923330" cy="923330"/>
          </a:xfrm>
          <a:prstGeom prst="rect">
            <a:avLst/>
          </a:prstGeom>
        </p:spPr>
      </p:pic>
      <p:sp>
        <p:nvSpPr>
          <p:cNvPr id="7" name="文本框 6"/>
          <p:cNvSpPr>
            <a:spLocks noGrp="1"/>
          </p:cNvSpPr>
          <p:nvPr/>
        </p:nvSpPr>
        <p:spPr>
          <a:xfrm>
            <a:off x="2197633" y="1848009"/>
            <a:ext cx="3511603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b="1" i="0">
                <a:solidFill>
                  <a:srgbClr val="713503"/>
                </a:solidFill>
                <a:latin typeface="IPix"/>
                <a:ea typeface="IPix"/>
                <a:cs typeface="IPix"/>
              </a:rPr>
              <a:t>金钱</a:t>
            </a:r>
            <a:endParaRPr b="1" i="0">
              <a:solidFill>
                <a:srgbClr val="713503"/>
              </a:solidFill>
              <a:latin typeface="IPix"/>
              <a:ea typeface="IPix"/>
              <a:cs typeface="IPix"/>
            </a:endParaRPr>
          </a:p>
          <a:p>
            <a:pPr algn="l">
              <a:buNone/>
            </a:pPr>
            <a:r>
              <a:rPr b="1" i="0">
                <a:solidFill>
                  <a:srgbClr val="713503"/>
                </a:solidFill>
                <a:latin typeface="IPix"/>
                <a:ea typeface="IPix"/>
                <a:cs typeface="IPix"/>
              </a:rPr>
              <a:t>购买地块、建设摊位、升级夜市，也是最终胜利指标。</a:t>
            </a:r>
            <a:endParaRPr b="1" i="0">
              <a:solidFill>
                <a:srgbClr val="713503"/>
              </a:solidFill>
              <a:latin typeface="IPix"/>
              <a:ea typeface="IPix"/>
              <a:cs typeface="IPix"/>
            </a:endParaRPr>
          </a:p>
        </p:txBody>
      </p:sp>
      <p:pic>
        <p:nvPicPr>
          <p:cNvPr id="40" name="图片 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46718" y="3429000"/>
            <a:ext cx="859458" cy="756792"/>
          </a:xfrm>
          <a:prstGeom prst="rect">
            <a:avLst/>
          </a:prstGeom>
        </p:spPr>
      </p:pic>
      <p:sp>
        <p:nvSpPr>
          <p:cNvPr id="11" name="文本框 10"/>
          <p:cNvSpPr>
            <a:spLocks noGrp="1"/>
          </p:cNvSpPr>
          <p:nvPr/>
        </p:nvSpPr>
        <p:spPr>
          <a:xfrm>
            <a:off x="2143845" y="3127327"/>
            <a:ext cx="3742125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i="0">
                <a:solidFill>
                  <a:srgbClr val="713503"/>
                </a:solidFill>
                <a:latin typeface="IPix"/>
                <a:ea typeface="IPix"/>
                <a:cs typeface="IPix"/>
              </a:rPr>
              <a:t>食材</a:t>
            </a:r>
            <a:endParaRPr b="1" i="0">
              <a:solidFill>
                <a:srgbClr val="713503"/>
              </a:solidFill>
              <a:latin typeface="IPix"/>
              <a:ea typeface="IPix"/>
              <a:cs typeface="IPix"/>
            </a:endParaRPr>
          </a:p>
          <a:p>
            <a:r>
              <a:rPr b="1">
                <a:solidFill>
                  <a:srgbClr val="713503"/>
                </a:solidFill>
                <a:latin typeface="IPix"/>
                <a:ea typeface="IPix"/>
                <a:cs typeface="IPix"/>
              </a:rPr>
              <a:t>分为低端与高端食材，夜晚营业会消耗，短缺会降低收益。</a:t>
            </a:r>
            <a:endParaRPr b="1">
              <a:solidFill>
                <a:srgbClr val="713503"/>
              </a:solidFill>
              <a:latin typeface="IPix"/>
              <a:ea typeface="IPix"/>
              <a:cs typeface="IPix"/>
            </a:endParaRPr>
          </a:p>
        </p:txBody>
      </p:sp>
      <p:pic>
        <p:nvPicPr>
          <p:cNvPr id="42" name="图片 12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75765" y="4868419"/>
            <a:ext cx="923330" cy="923330"/>
          </a:xfrm>
          <a:prstGeom prst="rect">
            <a:avLst/>
          </a:prstGeom>
        </p:spPr>
      </p:pic>
      <p:sp>
        <p:nvSpPr>
          <p:cNvPr id="15" name="文本框 14"/>
          <p:cNvSpPr>
            <a:spLocks noGrp="1"/>
          </p:cNvSpPr>
          <p:nvPr/>
        </p:nvSpPr>
        <p:spPr>
          <a:xfrm>
            <a:off x="2112002" y="4876102"/>
            <a:ext cx="3742125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i="0">
                <a:solidFill>
                  <a:srgbClr val="713503"/>
                </a:solidFill>
                <a:latin typeface="IPix"/>
                <a:ea typeface="IPix"/>
                <a:cs typeface="IPix"/>
              </a:rPr>
              <a:t>体力</a:t>
            </a:r>
            <a:endParaRPr b="1" i="0">
              <a:solidFill>
                <a:srgbClr val="713503"/>
              </a:solidFill>
              <a:latin typeface="IPix"/>
              <a:ea typeface="IPix"/>
              <a:cs typeface="IPix"/>
            </a:endParaRPr>
          </a:p>
          <a:p>
            <a:r>
              <a:rPr b="1">
                <a:solidFill>
                  <a:srgbClr val="713503"/>
                </a:solidFill>
                <a:latin typeface="IPix"/>
                <a:ea typeface="IPix"/>
                <a:cs typeface="IPix"/>
              </a:rPr>
              <a:t>限制每日行动，移动与事件都会影响体力状态。</a:t>
            </a:r>
            <a:endParaRPr b="1">
              <a:solidFill>
                <a:srgbClr val="713503"/>
              </a:solidFill>
              <a:latin typeface="IPix"/>
              <a:ea typeface="IPix"/>
              <a:cs typeface="IPix"/>
            </a:endParaRPr>
          </a:p>
        </p:txBody>
      </p:sp>
      <p:pic>
        <p:nvPicPr>
          <p:cNvPr id="44" name="图片 16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327394" y="1878068"/>
            <a:ext cx="837151" cy="826036"/>
          </a:xfrm>
          <a:prstGeom prst="rect">
            <a:avLst/>
          </a:prstGeom>
        </p:spPr>
      </p:pic>
      <p:sp>
        <p:nvSpPr>
          <p:cNvPr id="19" name="文本框 18"/>
          <p:cNvSpPr>
            <a:spLocks noGrp="1"/>
          </p:cNvSpPr>
          <p:nvPr/>
        </p:nvSpPr>
        <p:spPr>
          <a:xfrm>
            <a:off x="7391776" y="1833939"/>
            <a:ext cx="4019362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>
                <a:solidFill>
                  <a:srgbClr val="713503"/>
                </a:solidFill>
                <a:latin typeface="IPix"/>
                <a:ea typeface="IPix"/>
                <a:cs typeface="IPix"/>
              </a:rPr>
              <a:t>口碑</a:t>
            </a:r>
            <a:endParaRPr b="1">
              <a:solidFill>
                <a:srgbClr val="713503"/>
              </a:solidFill>
              <a:latin typeface="IPix"/>
              <a:ea typeface="IPix"/>
              <a:cs typeface="IPix"/>
            </a:endParaRPr>
          </a:p>
          <a:p>
            <a:r>
              <a:rPr b="1">
                <a:solidFill>
                  <a:srgbClr val="713503"/>
                </a:solidFill>
                <a:latin typeface="IPix"/>
                <a:ea typeface="IPix"/>
                <a:cs typeface="IPix"/>
              </a:rPr>
              <a:t>影响后期收益，高等级夜市可以获得口碑加成。</a:t>
            </a:r>
            <a:endParaRPr b="1">
              <a:solidFill>
                <a:srgbClr val="713503"/>
              </a:solidFill>
              <a:latin typeface="IPix"/>
              <a:ea typeface="IPix"/>
              <a:cs typeface="IPix"/>
            </a:endParaRPr>
          </a:p>
        </p:txBody>
      </p:sp>
      <p:pic>
        <p:nvPicPr>
          <p:cNvPr id="46" name="图片 20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384526" y="3287136"/>
            <a:ext cx="898656" cy="898656"/>
          </a:xfrm>
          <a:prstGeom prst="rect">
            <a:avLst/>
          </a:prstGeom>
        </p:spPr>
      </p:pic>
      <p:sp>
        <p:nvSpPr>
          <p:cNvPr id="23" name="文本框 22"/>
          <p:cNvSpPr>
            <a:spLocks noGrp="1"/>
          </p:cNvSpPr>
          <p:nvPr/>
        </p:nvSpPr>
        <p:spPr>
          <a:xfrm>
            <a:off x="7399460" y="3250948"/>
            <a:ext cx="3727021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i="0">
                <a:solidFill>
                  <a:srgbClr val="713503"/>
                </a:solidFill>
                <a:latin typeface="IPix"/>
                <a:ea typeface="IPix"/>
                <a:cs typeface="IPix"/>
              </a:rPr>
              <a:t>天气</a:t>
            </a:r>
            <a:endParaRPr b="1" i="0">
              <a:solidFill>
                <a:srgbClr val="713503"/>
              </a:solidFill>
              <a:latin typeface="IPix"/>
              <a:ea typeface="IPix"/>
              <a:cs typeface="IPix"/>
            </a:endParaRPr>
          </a:p>
          <a:p>
            <a:r>
              <a:rPr b="1">
                <a:solidFill>
                  <a:srgbClr val="713503"/>
                </a:solidFill>
                <a:latin typeface="IPix"/>
                <a:ea typeface="IPix"/>
                <a:cs typeface="IPix"/>
              </a:rPr>
              <a:t>每日随机刷新，改变客流倍率与收入倍率。</a:t>
            </a:r>
            <a:endParaRPr b="1">
              <a:solidFill>
                <a:srgbClr val="713503"/>
              </a:solidFill>
              <a:latin typeface="IPix"/>
              <a:ea typeface="IPix"/>
              <a:cs typeface="IPix"/>
            </a:endParaRPr>
          </a:p>
        </p:txBody>
      </p:sp>
      <p:pic>
        <p:nvPicPr>
          <p:cNvPr id="48" name="图片 24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389650" y="4855914"/>
            <a:ext cx="963706" cy="963706"/>
          </a:xfrm>
          <a:prstGeom prst="rect">
            <a:avLst/>
          </a:prstGeom>
        </p:spPr>
      </p:pic>
      <p:sp>
        <p:nvSpPr>
          <p:cNvPr id="27" name="文本框 26"/>
          <p:cNvSpPr>
            <a:spLocks noGrp="1"/>
          </p:cNvSpPr>
          <p:nvPr/>
        </p:nvSpPr>
        <p:spPr>
          <a:xfrm>
            <a:off x="7391776" y="4913062"/>
            <a:ext cx="4138175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>
                <a:solidFill>
                  <a:srgbClr val="713503"/>
                </a:solidFill>
                <a:latin typeface="IPix"/>
                <a:ea typeface="IPix"/>
                <a:cs typeface="IPix"/>
              </a:rPr>
              <a:t>卫生</a:t>
            </a:r>
            <a:endParaRPr b="1">
              <a:solidFill>
                <a:srgbClr val="713503"/>
              </a:solidFill>
              <a:latin typeface="IPix"/>
              <a:ea typeface="IPix"/>
              <a:cs typeface="IPix"/>
            </a:endParaRPr>
          </a:p>
          <a:p>
            <a:r>
              <a:rPr b="1">
                <a:solidFill>
                  <a:srgbClr val="713503"/>
                </a:solidFill>
                <a:latin typeface="IPix"/>
                <a:ea typeface="IPix"/>
                <a:cs typeface="IPix"/>
              </a:rPr>
              <a:t>卫生低会提高检查风险，失败会罚款并停业。</a:t>
            </a:r>
            <a:endParaRPr b="1">
              <a:solidFill>
                <a:srgbClr val="713503"/>
              </a:solidFill>
              <a:latin typeface="IPix"/>
              <a:ea typeface="IPix"/>
              <a:cs typeface="IPix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>
            <a:lum/>
          </a:blip>
          <a:srcRect/>
          <a:stretch>
            <a:fillRect t="-12000" b="-12000"/>
          </a:stretch>
        </a:blipFill>
        <a:effectLst/>
      </p:bgPr>
    </p:bg>
    <p:spTree>
      <p:nvGrpSpPr>
        <p:cNvPr id="1" name=""/>
        <p:cNvGrpSpPr/>
        <p:nvPr/>
      </p:nvGrpSpPr>
      <p:grpSpPr/>
      <p:pic>
        <p:nvPicPr>
          <p:cNvPr id="24" name="内容占位符 8"/>
          <p:cNvPicPr>
            <a:picLocks noChangeAspect="1"/>
          </p:cNvPicPr>
          <p:nvPr>
            <p:ph idx="1"/>
          </p:nvPr>
        </p:nvPicPr>
        <p:blipFill rotWithShape="1">
          <a:blip r:embed="rId2"/>
          <a:srcRect l="4951" t="14705" r="59966" b="48246"/>
          <a:stretch>
            <a:fillRect/>
          </a:stretch>
        </p:blipFill>
        <p:spPr>
          <a:xfrm>
            <a:off x="150126" y="295687"/>
            <a:ext cx="3836541" cy="2815526"/>
          </a:xfrm>
        </p:spPr>
      </p:pic>
      <p:pic>
        <p:nvPicPr>
          <p:cNvPr id="25" name="图片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92963" y="967736"/>
            <a:ext cx="1577932" cy="1577932"/>
          </a:xfrm>
          <a:prstGeom prst="rect">
            <a:avLst/>
          </a:prstGeom>
        </p:spPr>
      </p:pic>
      <p:pic>
        <p:nvPicPr>
          <p:cNvPr id="26" name="图片 1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5105" y="2746477"/>
            <a:ext cx="1933648" cy="3567271"/>
          </a:xfrm>
          <a:prstGeom prst="rect">
            <a:avLst/>
          </a:prstGeom>
        </p:spPr>
      </p:pic>
      <p:pic>
        <p:nvPicPr>
          <p:cNvPr id="27" name="图片 1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67823" y="777920"/>
            <a:ext cx="7731214" cy="5590420"/>
          </a:xfrm>
          <a:prstGeom prst="rect">
            <a:avLst/>
          </a:prstGeom>
        </p:spPr>
      </p:pic>
      <p:sp>
        <p:nvSpPr>
          <p:cNvPr id="17" name="文本框 16"/>
          <p:cNvSpPr>
            <a:spLocks noGrp="1"/>
          </p:cNvSpPr>
          <p:nvPr/>
        </p:nvSpPr>
        <p:spPr>
          <a:xfrm>
            <a:off x="1090080" y="2973754"/>
            <a:ext cx="1884920" cy="37548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713503"/>
                </a:solidFill>
                <a:latin typeface="IPix"/>
                <a:ea typeface="IPix"/>
                <a:cs typeface="IPix"/>
              </a:rPr>
              <a:t>单局目标</a:t>
            </a:r>
            <a:endParaRPr sz="2000">
              <a:solidFill>
                <a:srgbClr val="713503"/>
              </a:solidFill>
              <a:latin typeface="IPix"/>
              <a:ea typeface="IPix"/>
              <a:cs typeface="IPix"/>
            </a:endParaRPr>
          </a:p>
          <a:p>
            <a:r>
              <a:rPr sz="2000">
                <a:solidFill>
                  <a:srgbClr val="713503"/>
                </a:solidFill>
                <a:latin typeface="IPix"/>
                <a:ea typeface="IPix"/>
                <a:cs typeface="IPix"/>
              </a:rPr>
              <a:t>最大天数：30 天</a:t>
            </a:r>
            <a:endParaRPr sz="2000">
              <a:solidFill>
                <a:srgbClr val="713503"/>
              </a:solidFill>
              <a:latin typeface="IPix"/>
              <a:ea typeface="IPix"/>
              <a:cs typeface="IPix"/>
            </a:endParaRPr>
          </a:p>
          <a:p>
            <a:r>
              <a:rPr sz="2000">
                <a:solidFill>
                  <a:srgbClr val="713503"/>
                </a:solidFill>
                <a:latin typeface="IPix"/>
                <a:ea typeface="IPix"/>
                <a:cs typeface="IPix"/>
              </a:rPr>
              <a:t>初始资金：3000</a:t>
            </a:r>
            <a:endParaRPr sz="2000">
              <a:solidFill>
                <a:srgbClr val="713503"/>
              </a:solidFill>
              <a:latin typeface="IPix"/>
              <a:ea typeface="IPix"/>
              <a:cs typeface="IPix"/>
            </a:endParaRPr>
          </a:p>
          <a:p>
            <a:r>
              <a:rPr sz="2000">
                <a:solidFill>
                  <a:srgbClr val="713503"/>
                </a:solidFill>
                <a:latin typeface="IPix"/>
                <a:ea typeface="IPix"/>
                <a:cs typeface="IPix"/>
              </a:rPr>
              <a:t>初始贷款：7000</a:t>
            </a:r>
            <a:endParaRPr sz="2000">
              <a:solidFill>
                <a:srgbClr val="713503"/>
              </a:solidFill>
              <a:latin typeface="IPix"/>
              <a:ea typeface="IPix"/>
              <a:cs typeface="IPix"/>
            </a:endParaRPr>
          </a:p>
          <a:p>
            <a:r>
              <a:rPr sz="2000">
                <a:solidFill>
                  <a:srgbClr val="713503"/>
                </a:solidFill>
                <a:latin typeface="IPix"/>
                <a:ea typeface="IPix"/>
                <a:cs typeface="IPix"/>
              </a:rPr>
              <a:t>胜利目标：100000</a:t>
            </a:r>
            <a:endParaRPr sz="2000">
              <a:solidFill>
                <a:srgbClr val="713503"/>
              </a:solidFill>
              <a:latin typeface="IPix"/>
              <a:ea typeface="IPix"/>
              <a:cs typeface="IPix"/>
            </a:endParaRPr>
          </a:p>
          <a:p>
            <a:r>
              <a:rPr sz="2000">
                <a:solidFill>
                  <a:srgbClr val="713503"/>
                </a:solidFill>
                <a:latin typeface="IPix"/>
                <a:ea typeface="IPix"/>
                <a:cs typeface="IPix"/>
              </a:rPr>
              <a:t>利息周期：7 天</a:t>
            </a:r>
            <a:endParaRPr sz="2000">
              <a:solidFill>
                <a:srgbClr val="713503"/>
              </a:solidFill>
              <a:latin typeface="IPix"/>
              <a:ea typeface="IPix"/>
              <a:cs typeface="IPix"/>
            </a:endParaRPr>
          </a:p>
          <a:p>
            <a:r>
              <a:rPr sz="2000">
                <a:solidFill>
                  <a:srgbClr val="713503"/>
                </a:solidFill>
                <a:latin typeface="IPix"/>
                <a:ea typeface="IPix"/>
                <a:cs typeface="IPix"/>
              </a:rPr>
              <a:t>利息率：10%</a:t>
            </a:r>
            <a:endParaRPr sz="2000">
              <a:solidFill>
                <a:srgbClr val="713503"/>
              </a:solidFill>
              <a:latin typeface="IPix"/>
              <a:ea typeface="IPix"/>
              <a:cs typeface="IPix"/>
            </a:endParaRPr>
          </a:p>
        </p:txBody>
      </p:sp>
      <p:sp>
        <p:nvSpPr>
          <p:cNvPr id="19" name="文本框 18"/>
          <p:cNvSpPr>
            <a:spLocks noGrp="1"/>
          </p:cNvSpPr>
          <p:nvPr/>
        </p:nvSpPr>
        <p:spPr>
          <a:xfrm>
            <a:off x="3638375" y="1277114"/>
            <a:ext cx="7052417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i="0">
                <a:solidFill>
                  <a:srgbClr val="713503"/>
                </a:solidFill>
                <a:latin typeface="IPix"/>
                <a:ea typeface="IPix"/>
                <a:cs typeface="IPix"/>
              </a:rPr>
              <a:t>设计意图</a:t>
            </a:r>
            <a:endParaRPr sz="2400" i="0">
              <a:solidFill>
                <a:srgbClr val="713503"/>
              </a:solidFill>
              <a:latin typeface="IPix"/>
              <a:ea typeface="IPix"/>
              <a:cs typeface="IPix"/>
            </a:endParaRPr>
          </a:p>
          <a:p>
            <a:r>
              <a:rPr sz="2400" i="0">
                <a:solidFill>
                  <a:srgbClr val="713503"/>
                </a:solidFill>
                <a:latin typeface="IPix"/>
                <a:ea typeface="IPix"/>
                <a:cs typeface="IPix"/>
              </a:rPr>
              <a:t>玩家不是单纯“活到最后”，而是要在期限内把夜市做大。贷款提供前期启动资金，同时通过利息制造阶段性压力。</a:t>
            </a:r>
            <a:endParaRPr sz="2400" i="0">
              <a:solidFill>
                <a:srgbClr val="713503"/>
              </a:solidFill>
              <a:latin typeface="IPix"/>
              <a:ea typeface="IPix"/>
              <a:cs typeface="IPix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>
            <a:lum/>
          </a:blip>
          <a:srcRect/>
          <a:stretch>
            <a:fillRect t="-12000" b="-12000"/>
          </a:stretch>
        </a:blipFill>
        <a:effectLst/>
      </p:bgPr>
    </p:bg>
    <p:spTree>
      <p:nvGrpSpPr>
        <p:cNvPr id="1" name=""/>
        <p:cNvGrpSpPr/>
        <p:nvPr/>
      </p:nvGrpSpPr>
      <p:grpSpPr/>
      <p:pic>
        <p:nvPicPr>
          <p:cNvPr id="18" name="内容占位符 8"/>
          <p:cNvPicPr>
            <a:picLocks noChangeAspect="1"/>
          </p:cNvPicPr>
          <p:nvPr/>
        </p:nvPicPr>
        <p:blipFill rotWithShape="1">
          <a:blip r:embed="rId2"/>
          <a:srcRect l="4951" t="14705" r="59966" b="48246"/>
          <a:stretch>
            <a:fillRect/>
          </a:stretch>
        </p:blipFill>
        <p:spPr>
          <a:xfrm>
            <a:off x="150126" y="295687"/>
            <a:ext cx="3836541" cy="2815526"/>
          </a:xfrm>
          <a:prstGeom prst="rect">
            <a:avLst/>
          </a:prstGeom>
        </p:spPr>
      </p:pic>
      <p:pic>
        <p:nvPicPr>
          <p:cNvPr id="19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5105" y="2746477"/>
            <a:ext cx="1933648" cy="3567271"/>
          </a:xfrm>
          <a:prstGeom prst="rect">
            <a:avLst/>
          </a:prstGeom>
        </p:spPr>
      </p:pic>
      <p:pic>
        <p:nvPicPr>
          <p:cNvPr id="20" name="图片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67823" y="777920"/>
            <a:ext cx="7731214" cy="5590420"/>
          </a:xfrm>
          <a:prstGeom prst="rect">
            <a:avLst/>
          </a:prstGeom>
        </p:spPr>
      </p:pic>
      <p:pic>
        <p:nvPicPr>
          <p:cNvPr id="21" name="图片 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47086" y="1066789"/>
            <a:ext cx="1505496" cy="1505496"/>
          </a:xfrm>
          <a:prstGeom prst="rect">
            <a:avLst/>
          </a:prstGeom>
        </p:spPr>
      </p:pic>
      <p:sp>
        <p:nvSpPr>
          <p:cNvPr id="11" name="文本框 10"/>
          <p:cNvSpPr>
            <a:spLocks noGrp="1"/>
          </p:cNvSpPr>
          <p:nvPr/>
        </p:nvSpPr>
        <p:spPr>
          <a:xfrm>
            <a:off x="1004123" y="2823920"/>
            <a:ext cx="2184646" cy="34470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>
                <a:solidFill>
                  <a:srgbClr val="713503"/>
                </a:solidFill>
                <a:latin typeface="IPix"/>
                <a:ea typeface="IPix"/>
                <a:cs typeface="IPix"/>
              </a:rPr>
              <a:t>地图规划</a:t>
            </a:r>
            <a:endParaRPr>
              <a:solidFill>
                <a:srgbClr val="713503"/>
              </a:solidFill>
              <a:latin typeface="IPix"/>
              <a:ea typeface="IPix"/>
              <a:cs typeface="IPix"/>
            </a:endParaRPr>
          </a:p>
          <a:p>
            <a:r>
              <a:rPr>
                <a:solidFill>
                  <a:srgbClr val="713503"/>
                </a:solidFill>
                <a:latin typeface="IPix"/>
                <a:ea typeface="IPix"/>
                <a:cs typeface="IPix"/>
              </a:rPr>
              <a:t>测试地图共 36 个地块，起点为 T01。地块包含起点、可购买地块、资源地块、事件地块和特殊地块。</a:t>
            </a:r>
            <a:endParaRPr>
              <a:solidFill>
                <a:srgbClr val="713503"/>
              </a:solidFill>
              <a:latin typeface="IPix"/>
              <a:ea typeface="IPix"/>
              <a:cs typeface="IPix"/>
            </a:endParaRPr>
          </a:p>
        </p:txBody>
      </p:sp>
      <p:sp>
        <p:nvSpPr>
          <p:cNvPr id="13" name="文本框 12"/>
          <p:cNvSpPr>
            <a:spLocks noGrp="1"/>
          </p:cNvSpPr>
          <p:nvPr/>
        </p:nvSpPr>
        <p:spPr>
          <a:xfrm>
            <a:off x="3986667" y="1274796"/>
            <a:ext cx="6097424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>
                <a:solidFill>
                  <a:srgbClr val="713503"/>
                </a:solidFill>
                <a:latin typeface="IPix"/>
                <a:ea typeface="IPix"/>
                <a:cs typeface="IPix"/>
              </a:rPr>
              <a:t>移动规则</a:t>
            </a:r>
            <a:endParaRPr sz="2400">
              <a:solidFill>
                <a:srgbClr val="713503"/>
              </a:solidFill>
              <a:latin typeface="IPix"/>
              <a:ea typeface="IPix"/>
              <a:cs typeface="IPix"/>
            </a:endParaRPr>
          </a:p>
          <a:p>
            <a:r>
              <a:rPr sz="2400">
                <a:solidFill>
                  <a:srgbClr val="713503"/>
                </a:solidFill>
                <a:latin typeface="IPix"/>
                <a:ea typeface="IPix"/>
                <a:cs typeface="IPix"/>
              </a:rPr>
              <a:t>玩家每日掷骰，根据点数、邻接关系和体力选择可到达目标。到达后显示地块信息，并进入交互阶段。</a:t>
            </a:r>
            <a:endParaRPr sz="2400">
              <a:solidFill>
                <a:srgbClr val="713503"/>
              </a:solidFill>
              <a:latin typeface="IPix"/>
              <a:ea typeface="IPix"/>
              <a:cs typeface="IPix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>
            <a:lum/>
          </a:blip>
          <a:srcRect/>
          <a:stretch>
            <a:fillRect t="-12000" b="-12000"/>
          </a:stretch>
        </a:blipFill>
        <a:effectLst/>
      </p:bgPr>
    </p:bg>
    <p:spTree>
      <p:nvGrpSpPr>
        <p:cNvPr id="1" name=""/>
        <p:cNvGrpSpPr/>
        <p:nvPr/>
      </p:nvGrpSpPr>
      <p:grpSpPr/>
      <p:pic>
        <p:nvPicPr>
          <p:cNvPr id="20" name="内容占位符 8"/>
          <p:cNvPicPr>
            <a:picLocks noChangeAspect="1"/>
          </p:cNvPicPr>
          <p:nvPr/>
        </p:nvPicPr>
        <p:blipFill rotWithShape="1">
          <a:blip r:embed="rId2"/>
          <a:srcRect l="4951" t="14705" r="59966" b="48246"/>
          <a:stretch>
            <a:fillRect/>
          </a:stretch>
        </p:blipFill>
        <p:spPr>
          <a:xfrm>
            <a:off x="150126" y="295687"/>
            <a:ext cx="3836541" cy="2815526"/>
          </a:xfrm>
          <a:prstGeom prst="rect">
            <a:avLst/>
          </a:prstGeom>
        </p:spPr>
      </p:pic>
      <p:pic>
        <p:nvPicPr>
          <p:cNvPr id="21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5105" y="2746477"/>
            <a:ext cx="1933648" cy="3567271"/>
          </a:xfrm>
          <a:prstGeom prst="rect">
            <a:avLst/>
          </a:prstGeom>
        </p:spPr>
      </p:pic>
      <p:pic>
        <p:nvPicPr>
          <p:cNvPr id="22" name="图片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67823" y="777920"/>
            <a:ext cx="7731214" cy="5590420"/>
          </a:xfrm>
          <a:prstGeom prst="rect">
            <a:avLst/>
          </a:prstGeom>
        </p:spPr>
      </p:pic>
      <p:pic>
        <p:nvPicPr>
          <p:cNvPr id="23" name="图片 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15698" y="1089660"/>
            <a:ext cx="1464244" cy="1464244"/>
          </a:xfrm>
          <a:prstGeom prst="rect">
            <a:avLst/>
          </a:prstGeom>
        </p:spPr>
      </p:pic>
      <p:sp>
        <p:nvSpPr>
          <p:cNvPr id="12" name="文本框 11"/>
          <p:cNvSpPr>
            <a:spLocks noGrp="1"/>
          </p:cNvSpPr>
          <p:nvPr/>
        </p:nvSpPr>
        <p:spPr>
          <a:xfrm>
            <a:off x="1091781" y="2984416"/>
            <a:ext cx="1933648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713503"/>
                </a:solidFill>
                <a:latin typeface="IPix"/>
                <a:ea typeface="IPix"/>
                <a:cs typeface="IPix"/>
              </a:rPr>
              <a:t>夜市经营</a:t>
            </a:r>
            <a:endParaRPr sz="2000">
              <a:solidFill>
                <a:srgbClr val="713503"/>
              </a:solidFill>
              <a:latin typeface="IPix"/>
              <a:ea typeface="IPix"/>
              <a:cs typeface="IPix"/>
            </a:endParaRPr>
          </a:p>
          <a:p>
            <a:r>
              <a:rPr sz="2000">
                <a:solidFill>
                  <a:srgbClr val="713503"/>
                </a:solidFill>
                <a:latin typeface="IPix"/>
                <a:ea typeface="IPix"/>
                <a:cs typeface="IPix"/>
              </a:rPr>
              <a:t>玩家可在可购买地块创建夜市。夜市拥有等级、最大摊位数、总吸引力、总卫生值和停业回合数。</a:t>
            </a:r>
            <a:endParaRPr sz="2000">
              <a:solidFill>
                <a:srgbClr val="713503"/>
              </a:solidFill>
              <a:latin typeface="IPix"/>
              <a:ea typeface="IPix"/>
              <a:cs typeface="IPix"/>
            </a:endParaRPr>
          </a:p>
        </p:txBody>
      </p:sp>
      <p:sp>
        <p:nvSpPr>
          <p:cNvPr id="15" name="文本框 14"/>
          <p:cNvSpPr>
            <a:spLocks noGrp="1"/>
          </p:cNvSpPr>
          <p:nvPr/>
        </p:nvSpPr>
        <p:spPr>
          <a:xfrm>
            <a:off x="3988753" y="1376419"/>
            <a:ext cx="6097424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0" i="0">
                <a:solidFill>
                  <a:srgbClr val="713503"/>
                </a:solidFill>
                <a:latin typeface="IPix"/>
                <a:ea typeface="IPix"/>
                <a:cs typeface="IPix"/>
              </a:rPr>
              <a:t>成长路径</a:t>
            </a:r>
            <a:endParaRPr sz="2400" b="0" i="0">
              <a:solidFill>
                <a:srgbClr val="713503"/>
              </a:solidFill>
              <a:latin typeface="IPix"/>
              <a:ea typeface="IPix"/>
              <a:cs typeface="IPix"/>
            </a:endParaRPr>
          </a:p>
          <a:p>
            <a:r>
              <a:rPr sz="2400" b="0" i="0">
                <a:solidFill>
                  <a:srgbClr val="713503"/>
                </a:solidFill>
                <a:latin typeface="IPix"/>
                <a:ea typeface="IPix"/>
                <a:cs typeface="IPix"/>
              </a:rPr>
              <a:t>1级基础夜市 → 2级扩大摊位容量 → 3级解锁更高阶摊位 → 4级获得口碑加成。</a:t>
            </a:r>
            <a:endParaRPr sz="2400" b="0" i="0">
              <a:solidFill>
                <a:srgbClr val="713503"/>
              </a:solidFill>
              <a:latin typeface="IPix"/>
              <a:ea typeface="IPix"/>
              <a:cs typeface="IPix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>
            <a:lum/>
          </a:blip>
          <a:srcRect/>
          <a:stretch>
            <a:fillRect t="-12000" b="-12000"/>
          </a:stretch>
        </a:blipFill>
        <a:effectLst/>
      </p:bgPr>
    </p:bg>
    <p:spTree>
      <p:nvGrpSpPr>
        <p:cNvPr id="1" name=""/>
        <p:cNvGrpSpPr/>
        <p:nvPr/>
      </p:nvGrpSpPr>
      <p:grpSpPr/>
      <p:pic>
        <p:nvPicPr>
          <p:cNvPr id="16" name="内容占位符 8"/>
          <p:cNvPicPr>
            <a:picLocks noChangeAspect="1"/>
          </p:cNvPicPr>
          <p:nvPr/>
        </p:nvPicPr>
        <p:blipFill rotWithShape="1">
          <a:blip r:embed="rId2"/>
          <a:srcRect l="4951" t="14705" r="59966" b="48246"/>
          <a:stretch>
            <a:fillRect/>
          </a:stretch>
        </p:blipFill>
        <p:spPr>
          <a:xfrm>
            <a:off x="150126" y="295687"/>
            <a:ext cx="3836541" cy="2815526"/>
          </a:xfrm>
          <a:prstGeom prst="rect">
            <a:avLst/>
          </a:prstGeom>
        </p:spPr>
      </p:pic>
      <p:pic>
        <p:nvPicPr>
          <p:cNvPr id="17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5105" y="2746477"/>
            <a:ext cx="1933648" cy="3567271"/>
          </a:xfrm>
          <a:prstGeom prst="rect">
            <a:avLst/>
          </a:prstGeom>
        </p:spPr>
      </p:pic>
      <p:pic>
        <p:nvPicPr>
          <p:cNvPr id="18" name="图片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67823" y="777920"/>
            <a:ext cx="7731214" cy="5590420"/>
          </a:xfrm>
          <a:prstGeom prst="rect">
            <a:avLst/>
          </a:prstGeom>
        </p:spPr>
      </p:pic>
      <p:pic>
        <p:nvPicPr>
          <p:cNvPr id="19" name="图片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27143" y="1093850"/>
            <a:ext cx="1464779" cy="1464779"/>
          </a:xfrm>
          <a:prstGeom prst="rect">
            <a:avLst/>
          </a:prstGeom>
        </p:spPr>
      </p:pic>
      <p:sp>
        <p:nvSpPr>
          <p:cNvPr id="9" name="文本框 8"/>
          <p:cNvSpPr>
            <a:spLocks noGrp="1"/>
          </p:cNvSpPr>
          <p:nvPr/>
        </p:nvSpPr>
        <p:spPr>
          <a:xfrm>
            <a:off x="1130502" y="3094121"/>
            <a:ext cx="6097424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713503"/>
                </a:solidFill>
                <a:latin typeface="IPix"/>
                <a:ea typeface="IPix"/>
                <a:cs typeface="IPix"/>
              </a:rPr>
              <a:t>摊位系统</a:t>
            </a:r>
            <a:endParaRPr sz="2000">
              <a:solidFill>
                <a:srgbClr val="713503"/>
              </a:solidFill>
              <a:latin typeface="IPix"/>
              <a:ea typeface="IPix"/>
              <a:cs typeface="IPix"/>
            </a:endParaRPr>
          </a:p>
          <a:p>
            <a:r>
              <a:rPr sz="2000">
                <a:solidFill>
                  <a:srgbClr val="713503"/>
                </a:solidFill>
                <a:latin typeface="IPix"/>
                <a:ea typeface="IPix"/>
                <a:cs typeface="IPix"/>
              </a:rPr>
              <a:t>摊位配置包含建设成本、升级成本、基础客单价、吸引力、食材消耗、卫生值和客群偏好。</a:t>
            </a:r>
            <a:endParaRPr sz="2000">
              <a:solidFill>
                <a:srgbClr val="713503"/>
              </a:solidFill>
              <a:latin typeface="IPix"/>
              <a:ea typeface="IPix"/>
              <a:cs typeface="IPix"/>
            </a:endParaRPr>
          </a:p>
          <a:p>
            <a:endParaRPr sz="2000"/>
          </a:p>
          <a:p>
            <a:r>
              <a:rPr sz="2000">
                <a:solidFill>
                  <a:srgbClr val="713503"/>
                </a:solidFill>
                <a:latin typeface="IPix"/>
                <a:ea typeface="IPix"/>
                <a:cs typeface="IPix"/>
              </a:rPr>
              <a:t>代表摊位：炒饭、烧烤、热干面、咖啡、轻食、炸串等。</a:t>
            </a:r>
            <a:endParaRPr sz="2000">
              <a:solidFill>
                <a:srgbClr val="713503"/>
              </a:solidFill>
              <a:latin typeface="IPix"/>
              <a:ea typeface="IPix"/>
              <a:cs typeface="IPix"/>
            </a:endParaRPr>
          </a:p>
        </p:txBody>
      </p:sp>
      <p:sp>
        <p:nvSpPr>
          <p:cNvPr id="11" name="文本框 10"/>
          <p:cNvSpPr>
            <a:spLocks noGrp="1"/>
          </p:cNvSpPr>
          <p:nvPr/>
        </p:nvSpPr>
        <p:spPr>
          <a:xfrm>
            <a:off x="4057117" y="1249999"/>
            <a:ext cx="6097424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>
                <a:solidFill>
                  <a:srgbClr val="713503"/>
                </a:solidFill>
                <a:latin typeface="IPix"/>
                <a:ea typeface="IPix"/>
                <a:cs typeface="IPix"/>
              </a:rPr>
              <a:t>收益逻辑</a:t>
            </a:r>
            <a:endParaRPr sz="2400">
              <a:solidFill>
                <a:srgbClr val="713503"/>
              </a:solidFill>
              <a:latin typeface="IPix"/>
              <a:ea typeface="IPix"/>
              <a:cs typeface="IPix"/>
            </a:endParaRPr>
          </a:p>
          <a:p>
            <a:r>
              <a:rPr sz="2400">
                <a:solidFill>
                  <a:srgbClr val="713503"/>
                </a:solidFill>
                <a:latin typeface="IPix"/>
                <a:ea typeface="IPix"/>
                <a:cs typeface="IPix"/>
              </a:rPr>
              <a:t>夜晚收益由基础客流、摊位吸引力、地块消费力、客群偏好、天气倍率、食材供给和口碑加成共同决定。</a:t>
            </a:r>
            <a:endParaRPr sz="2400">
              <a:solidFill>
                <a:srgbClr val="713503"/>
              </a:solidFill>
              <a:latin typeface="IPix"/>
              <a:ea typeface="IPix"/>
              <a:cs typeface="IPix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>
            <a:lum/>
          </a:blip>
          <a:srcRect/>
          <a:stretch>
            <a:fillRect t="-2000" b="-2000"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6" name="文本框 5"/>
          <p:cNvSpPr>
            <a:spLocks noGrp="1"/>
          </p:cNvSpPr>
          <p:nvPr/>
        </p:nvSpPr>
        <p:spPr>
          <a:xfrm>
            <a:off x="2467428" y="1240971"/>
            <a:ext cx="8164285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200" b="1">
                <a:solidFill>
                  <a:srgbClr val="713503"/>
                </a:solidFill>
                <a:latin typeface="IPix"/>
                <a:ea typeface="IPix"/>
                <a:cs typeface="IPix"/>
              </a:rPr>
              <a:t>PART THREE</a:t>
            </a:r>
            <a:endParaRPr sz="7200" b="1">
              <a:solidFill>
                <a:srgbClr val="713503"/>
              </a:solidFill>
              <a:latin typeface="IPix"/>
              <a:ea typeface="IPix"/>
              <a:cs typeface="IPix"/>
            </a:endParaRPr>
          </a:p>
        </p:txBody>
      </p:sp>
      <p:sp>
        <p:nvSpPr>
          <p:cNvPr id="3" name="文本框 2"/>
          <p:cNvSpPr>
            <a:spLocks noGrp="1"/>
          </p:cNvSpPr>
          <p:nvPr/>
        </p:nvSpPr>
        <p:spPr>
          <a:xfrm>
            <a:off x="3048640" y="3246255"/>
            <a:ext cx="609728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sz="4800">
                <a:solidFill>
                  <a:srgbClr val="754514"/>
                </a:solidFill>
                <a:latin typeface="IPix"/>
                <a:ea typeface="IPix"/>
                <a:cs typeface="IPix"/>
              </a:rPr>
              <a:t>游戏系统设计</a:t>
            </a:r>
            <a:endParaRPr sz="4800">
              <a:solidFill>
                <a:srgbClr val="754514"/>
              </a:solidFill>
              <a:latin typeface="IPix"/>
              <a:ea typeface="IPix"/>
              <a:cs typeface="IPix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4727281" y="4274495"/>
            <a:ext cx="5539548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2800" dirty="0">
                <a:solidFill>
                  <a:srgbClr val="754514"/>
                </a:solidFill>
                <a:latin typeface="IPix" panose="02000503000000000000" pitchFamily="2" charset="-120"/>
                <a:ea typeface="IPix" panose="02000503000000000000" pitchFamily="2" charset="-120"/>
              </a:rPr>
              <a:t>汇报人：牛楚源</a:t>
            </a:r>
            <a:endParaRPr lang="en-US" altLang="zh-CN" sz="2800" dirty="0">
              <a:solidFill>
                <a:srgbClr val="754514"/>
              </a:solidFill>
              <a:latin typeface="IPix" panose="02000503000000000000" pitchFamily="2" charset="-120"/>
              <a:ea typeface="IPix" panose="02000503000000000000" pitchFamily="2" charset="-120"/>
            </a:endParaRPr>
          </a:p>
          <a:p>
            <a:pPr algn="ctr"/>
            <a:r>
              <a:rPr lang="zh-CN" altLang="en-US" sz="2800" dirty="0">
                <a:solidFill>
                  <a:srgbClr val="754514"/>
                </a:solidFill>
                <a:latin typeface="IPix" panose="02000503000000000000" pitchFamily="2" charset="-120"/>
                <a:ea typeface="IPix" panose="02000503000000000000" pitchFamily="2" charset="-120"/>
              </a:rPr>
              <a:t>          邵星岩</a:t>
            </a:r>
            <a:endParaRPr lang="en-US" altLang="zh-CN" sz="2800" dirty="0">
              <a:solidFill>
                <a:srgbClr val="754514"/>
              </a:solidFill>
              <a:latin typeface="IPix" panose="02000503000000000000" pitchFamily="2" charset="-120"/>
              <a:ea typeface="IPix" panose="02000503000000000000" pitchFamily="2" charset="-120"/>
            </a:endParaRPr>
          </a:p>
          <a:p>
            <a:pPr algn="ctr"/>
            <a:r>
              <a:rPr lang="en-US" altLang="zh-CN" sz="2800" dirty="0">
                <a:solidFill>
                  <a:srgbClr val="754514"/>
                </a:solidFill>
                <a:latin typeface="IPix" panose="02000503000000000000" pitchFamily="2" charset="-120"/>
                <a:ea typeface="IPix" panose="02000503000000000000" pitchFamily="2" charset="-120"/>
              </a:rPr>
              <a:t>          </a:t>
            </a:r>
            <a:r>
              <a:rPr lang="zh-CN" altLang="en-US" sz="2800" dirty="0">
                <a:solidFill>
                  <a:srgbClr val="754514"/>
                </a:solidFill>
                <a:latin typeface="IPix" panose="02000503000000000000" pitchFamily="2" charset="-120"/>
                <a:ea typeface="IPix" panose="02000503000000000000" pitchFamily="2" charset="-120"/>
              </a:rPr>
              <a:t>文智强</a:t>
            </a:r>
            <a:endParaRPr lang="zh-CN" altLang="en-US" sz="4800" dirty="0">
              <a:solidFill>
                <a:srgbClr val="754514"/>
              </a:solidFill>
              <a:latin typeface="IPix" panose="02000503000000000000" pitchFamily="2" charset="-120"/>
              <a:ea typeface="IPix" panose="02000503000000000000" pitchFamily="2" charset="-12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8" name="矩形 7"/>
          <p:cNvSpPr>
            <a:spLocks noGrp="1"/>
          </p:cNvSpPr>
          <p:nvPr/>
        </p:nvSpPr>
        <p:spPr>
          <a:xfrm>
            <a:off x="718869" y="408316"/>
            <a:ext cx="10576704" cy="6124815"/>
          </a:xfrm>
          <a:prstGeom prst="rect">
            <a:avLst/>
          </a:prstGeom>
          <a:solidFill>
            <a:schemeClr val="bg1">
              <a:alpha val="59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cxnSp>
        <p:nvCxnSpPr>
          <p:cNvPr id="20" name="直接连接符 9"/>
          <p:cNvCxnSpPr>
            <a:stCxn id="8" idx="1"/>
            <a:endCxn id="8" idx="3"/>
          </p:cNvCxnSpPr>
          <p:nvPr/>
        </p:nvCxnSpPr>
        <p:spPr>
          <a:xfrm>
            <a:off x="718869" y="3470724"/>
            <a:ext cx="10576704" cy="0"/>
          </a:xfrm>
          <a:prstGeom prst="line">
            <a:avLst/>
          </a:prstGeom>
          <a:ln w="31750">
            <a:solidFill>
              <a:srgbClr val="BDEEF9"/>
            </a:solidFill>
            <a:prstDash val="lgDash"/>
          </a:ln>
          <a:effectLst>
            <a:outerShdw blurRad="88900" dist="50800" dir="5400000" algn="ctr" rotWithShape="0">
              <a:schemeClr val="bg2">
                <a:lumMod val="75000"/>
              </a:scheme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矩形 1"/>
          <p:cNvSpPr>
            <a:spLocks noGrp="1"/>
          </p:cNvSpPr>
          <p:nvPr/>
        </p:nvSpPr>
        <p:spPr>
          <a:xfrm>
            <a:off x="852577" y="578666"/>
            <a:ext cx="10159040" cy="2702318"/>
          </a:xfrm>
          <a:prstGeom prst="rect">
            <a:avLst/>
          </a:prstGeom>
          <a:solidFill>
            <a:schemeClr val="bg1">
              <a:alpha val="9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896427" y="3739823"/>
            <a:ext cx="10159040" cy="2702318"/>
          </a:xfrm>
          <a:prstGeom prst="rect">
            <a:avLst/>
          </a:prstGeom>
          <a:solidFill>
            <a:schemeClr val="bg1">
              <a:alpha val="9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12" name="文本框 11"/>
          <p:cNvSpPr>
            <a:spLocks noGrp="1"/>
          </p:cNvSpPr>
          <p:nvPr/>
        </p:nvSpPr>
        <p:spPr>
          <a:xfrm>
            <a:off x="951780" y="3971010"/>
            <a:ext cx="9960634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>
                <a:solidFill>
                  <a:srgbClr val="713503"/>
                </a:solidFill>
                <a:latin typeface="IPix"/>
                <a:ea typeface="IPix"/>
                <a:cs typeface="IPix"/>
              </a:rPr>
              <a:t>核心循环</a:t>
            </a:r>
            <a:endParaRPr b="1">
              <a:solidFill>
                <a:srgbClr val="713503"/>
              </a:solidFill>
              <a:latin typeface="IPix"/>
              <a:ea typeface="IPix"/>
              <a:cs typeface="IPix"/>
            </a:endParaRPr>
          </a:p>
          <a:p>
            <a:r>
              <a:rPr b="1">
                <a:solidFill>
                  <a:srgbClr val="713503"/>
                </a:solidFill>
                <a:latin typeface="IPix"/>
                <a:ea typeface="IPix"/>
                <a:cs typeface="IPix"/>
              </a:rPr>
              <a:t>每日开始 → 刷新天气/事件 → 掷骰 → 选择地块 → 移动 → 地块交互 → 进入黑夜 → 夜晚结算 → 检查/利息 → 下一天</a:t>
            </a:r>
            <a:endParaRPr b="1">
              <a:solidFill>
                <a:srgbClr val="713503"/>
              </a:solidFill>
              <a:latin typeface="IPix"/>
              <a:ea typeface="IPix"/>
              <a:cs typeface="IPix"/>
            </a:endParaRPr>
          </a:p>
        </p:txBody>
      </p:sp>
      <p:sp>
        <p:nvSpPr>
          <p:cNvPr id="14" name="文本框 13"/>
          <p:cNvSpPr>
            <a:spLocks noGrp="1"/>
          </p:cNvSpPr>
          <p:nvPr/>
        </p:nvSpPr>
        <p:spPr>
          <a:xfrm>
            <a:off x="1015041" y="702372"/>
            <a:ext cx="9960634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>
                <a:solidFill>
                  <a:srgbClr val="713503"/>
                </a:solidFill>
                <a:latin typeface="IPix"/>
                <a:ea typeface="IPix"/>
                <a:cs typeface="IPix"/>
              </a:rPr>
              <a:t>阶段控制</a:t>
            </a:r>
            <a:endParaRPr b="1">
              <a:solidFill>
                <a:srgbClr val="713503"/>
              </a:solidFill>
              <a:latin typeface="IPix"/>
              <a:ea typeface="IPix"/>
              <a:cs typeface="IPix"/>
            </a:endParaRPr>
          </a:p>
          <a:p>
            <a:r>
              <a:rPr b="1">
                <a:solidFill>
                  <a:srgbClr val="713503"/>
                </a:solidFill>
                <a:latin typeface="IPix"/>
                <a:ea typeface="IPix"/>
                <a:cs typeface="IPix"/>
              </a:rPr>
              <a:t>游戏阶段包括 Init、DayStart、RollDice、ChooseMove、MovePlayer、TileInteraction、NightSettlement、DayEnd、GameWin、GameLose。</a:t>
            </a:r>
            <a:endParaRPr b="1">
              <a:solidFill>
                <a:srgbClr val="713503"/>
              </a:solidFill>
              <a:latin typeface="IPix"/>
              <a:ea typeface="IPix"/>
              <a:cs typeface="IPix"/>
            </a:endParaRPr>
          </a:p>
        </p:txBody>
      </p:sp>
      <p:pic>
        <p:nvPicPr>
          <p:cNvPr id="25" name="图片 1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6461816">
            <a:off x="-152170" y="-542213"/>
            <a:ext cx="1164222" cy="2006937"/>
          </a:xfrm>
          <a:prstGeom prst="rect">
            <a:avLst/>
          </a:prstGeom>
        </p:spPr>
      </p:pic>
      <p:pic>
        <p:nvPicPr>
          <p:cNvPr id="26" name="图片 2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0056126">
            <a:off x="11077446" y="5065141"/>
            <a:ext cx="1211653" cy="2180975"/>
          </a:xfrm>
          <a:prstGeom prst="rect">
            <a:avLst/>
          </a:prstGeom>
        </p:spPr>
      </p:pic>
      <p:pic>
        <p:nvPicPr>
          <p:cNvPr id="27" name="图片 2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733161">
            <a:off x="-31073" y="5439407"/>
            <a:ext cx="1067878" cy="1922180"/>
          </a:xfrm>
          <a:prstGeom prst="rect">
            <a:avLst/>
          </a:prstGeom>
        </p:spPr>
      </p:pic>
      <p:pic>
        <p:nvPicPr>
          <p:cNvPr id="28" name="图片 2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14157478">
            <a:off x="11302400" y="-703219"/>
            <a:ext cx="1240408" cy="1891125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718869" y="408316"/>
            <a:ext cx="10576704" cy="6124815"/>
          </a:xfrm>
          <a:prstGeom prst="rect">
            <a:avLst/>
          </a:prstGeom>
          <a:solidFill>
            <a:schemeClr val="bg1">
              <a:alpha val="59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pic>
        <p:nvPicPr>
          <p:cNvPr id="15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55504" y="1585291"/>
            <a:ext cx="5454375" cy="4462670"/>
          </a:xfrm>
          <a:prstGeom prst="rect">
            <a:avLst/>
          </a:prstGeom>
        </p:spPr>
      </p:pic>
      <p:sp>
        <p:nvSpPr>
          <p:cNvPr id="7" name="矩形: 圆角 6"/>
          <p:cNvSpPr>
            <a:spLocks noGrp="1"/>
          </p:cNvSpPr>
          <p:nvPr/>
        </p:nvSpPr>
        <p:spPr>
          <a:xfrm>
            <a:off x="1038047" y="794067"/>
            <a:ext cx="2304283" cy="603413"/>
          </a:xfrm>
          <a:prstGeom prst="roundRect">
            <a:avLst/>
          </a:prstGeom>
          <a:solidFill>
            <a:schemeClr val="accent6"/>
          </a:solidFill>
          <a:ln w="25400">
            <a:solidFill>
              <a:srgbClr val="71350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r>
              <a:rPr b="1">
                <a:solidFill>
                  <a:srgbClr val="713503"/>
                </a:solidFill>
                <a:latin typeface="IPix"/>
                <a:ea typeface="IPix"/>
                <a:cs typeface="IPix"/>
              </a:rPr>
              <a:t>地块系统</a:t>
            </a:r>
            <a:endParaRPr b="1">
              <a:solidFill>
                <a:srgbClr val="713503"/>
              </a:solidFill>
              <a:latin typeface="IPix"/>
              <a:ea typeface="IPix"/>
              <a:cs typeface="IPix"/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871269" y="1599388"/>
            <a:ext cx="2763327" cy="4554059"/>
          </a:xfrm>
          <a:prstGeom prst="rect">
            <a:avLst/>
          </a:prstGeom>
          <a:solidFill>
            <a:schemeClr val="bg1">
              <a:alpha val="9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9" name="矩形: 圆角 8"/>
          <p:cNvSpPr>
            <a:spLocks noGrp="1"/>
          </p:cNvSpPr>
          <p:nvPr/>
        </p:nvSpPr>
        <p:spPr>
          <a:xfrm>
            <a:off x="8459639" y="794067"/>
            <a:ext cx="2304283" cy="603413"/>
          </a:xfrm>
          <a:prstGeom prst="roundRect">
            <a:avLst/>
          </a:prstGeom>
          <a:solidFill>
            <a:schemeClr val="accent6"/>
          </a:solidFill>
          <a:ln w="25400">
            <a:solidFill>
              <a:srgbClr val="71350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r>
              <a:rPr b="1">
                <a:solidFill>
                  <a:srgbClr val="713503"/>
                </a:solidFill>
                <a:latin typeface="IPix"/>
                <a:ea typeface="IPix"/>
                <a:cs typeface="IPix"/>
              </a:rPr>
              <a:t>事件系统</a:t>
            </a:r>
            <a:endParaRPr b="1">
              <a:solidFill>
                <a:srgbClr val="713503"/>
              </a:solidFill>
              <a:latin typeface="IPix"/>
              <a:ea typeface="IPix"/>
              <a:cs typeface="IPix"/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8292861" y="1599388"/>
            <a:ext cx="2763327" cy="4554059"/>
          </a:xfrm>
          <a:prstGeom prst="rect">
            <a:avLst/>
          </a:prstGeom>
          <a:solidFill>
            <a:schemeClr val="bg1">
              <a:alpha val="9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11" name="文本框 10"/>
          <p:cNvSpPr>
            <a:spLocks noGrp="1"/>
          </p:cNvSpPr>
          <p:nvPr/>
        </p:nvSpPr>
        <p:spPr>
          <a:xfrm>
            <a:off x="1015041" y="1616776"/>
            <a:ext cx="2619555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>
                <a:solidFill>
                  <a:srgbClr val="713503"/>
                </a:solidFill>
                <a:latin typeface="IPix"/>
                <a:ea typeface="IPix"/>
                <a:cs typeface="IPix"/>
              </a:rPr>
              <a:t>TileConfig 配置地块 ID、类型、邻接、购买价格、基础客流、消费能力、客群比例、检查概率和事件池。</a:t>
            </a:r>
            <a:endParaRPr b="1">
              <a:solidFill>
                <a:srgbClr val="713503"/>
              </a:solidFill>
              <a:latin typeface="IPix"/>
              <a:ea typeface="IPix"/>
              <a:cs typeface="IPix"/>
            </a:endParaRPr>
          </a:p>
        </p:txBody>
      </p:sp>
      <p:sp>
        <p:nvSpPr>
          <p:cNvPr id="12" name="文本框 11"/>
          <p:cNvSpPr>
            <a:spLocks noGrp="1"/>
          </p:cNvSpPr>
          <p:nvPr/>
        </p:nvSpPr>
        <p:spPr>
          <a:xfrm>
            <a:off x="8412795" y="1643229"/>
            <a:ext cx="2619555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>
                <a:solidFill>
                  <a:srgbClr val="713503"/>
                </a:solidFill>
                <a:latin typeface="IPix"/>
                <a:ea typeface="IPix"/>
                <a:cs typeface="IPix"/>
              </a:rPr>
              <a:t>事件池包含到达事件、每日事件、夜晚事件和卫生检查事件。当前事件信息主要通过消息栏反馈，减少流程打断。</a:t>
            </a:r>
            <a:endParaRPr b="1">
              <a:solidFill>
                <a:srgbClr val="713503"/>
              </a:solidFill>
              <a:latin typeface="IPix"/>
              <a:ea typeface="IPix"/>
              <a:cs typeface="IPix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>
            <a:lum/>
          </a:blip>
          <a:srcRect/>
          <a:stretch>
            <a:fillRect t="-12000" b="-12000"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4" name="矩形 3"/>
          <p:cNvSpPr>
            <a:spLocks noGrp="1"/>
          </p:cNvSpPr>
          <p:nvPr/>
        </p:nvSpPr>
        <p:spPr>
          <a:xfrm>
            <a:off x="718869" y="408316"/>
            <a:ext cx="10576704" cy="6124815"/>
          </a:xfrm>
          <a:prstGeom prst="rect">
            <a:avLst/>
          </a:prstGeom>
          <a:solidFill>
            <a:schemeClr val="bg1">
              <a:alpha val="59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pic>
        <p:nvPicPr>
          <p:cNvPr id="37" name="图片 2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98384" y="513331"/>
            <a:ext cx="1852178" cy="2033042"/>
          </a:xfrm>
          <a:ln w="44450">
            <a:solidFill>
              <a:schemeClr val="bg1"/>
            </a:solidFill>
            <a:prstDash val="lgDash"/>
          </a:ln>
        </p:spPr>
      </p:pic>
      <p:pic>
        <p:nvPicPr>
          <p:cNvPr id="38" name="图片 2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12017" y="629003"/>
            <a:ext cx="2045240" cy="2033042"/>
          </a:xfrm>
          <a:ln w="44450">
            <a:solidFill>
              <a:schemeClr val="bg1"/>
            </a:solidFill>
            <a:prstDash val="lgDash"/>
          </a:ln>
        </p:spPr>
      </p:pic>
      <p:pic>
        <p:nvPicPr>
          <p:cNvPr id="39" name="图片 2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98076" y="698703"/>
            <a:ext cx="3324625" cy="1893642"/>
          </a:xfrm>
          <a:ln w="44450">
            <a:solidFill>
              <a:schemeClr val="bg1"/>
            </a:solidFill>
            <a:prstDash val="lgDash"/>
          </a:ln>
        </p:spPr>
      </p:pic>
      <p:pic>
        <p:nvPicPr>
          <p:cNvPr id="40" name="图片 2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316410" y="5379517"/>
            <a:ext cx="2678410" cy="1478483"/>
          </a:xfrm>
          <a:prstGeom prst="rect">
            <a:avLst/>
          </a:prstGeom>
        </p:spPr>
      </p:pic>
      <p:sp>
        <p:nvSpPr>
          <p:cNvPr id="29" name="文本框 28"/>
          <p:cNvSpPr>
            <a:spLocks noGrp="1"/>
          </p:cNvSpPr>
          <p:nvPr/>
        </p:nvSpPr>
        <p:spPr>
          <a:xfrm>
            <a:off x="899781" y="2623380"/>
            <a:ext cx="2972972" cy="3693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>
                <a:solidFill>
                  <a:schemeClr val="bg1"/>
                </a:solidFill>
                <a:latin typeface="IPix"/>
                <a:ea typeface="IPix"/>
                <a:cs typeface="IPix"/>
              </a:rPr>
              <a:t>经济系统</a:t>
            </a:r>
            <a:endParaRPr b="1">
              <a:solidFill>
                <a:schemeClr val="bg1"/>
              </a:solidFill>
              <a:latin typeface="IPix"/>
              <a:ea typeface="IPix"/>
              <a:cs typeface="IPix"/>
            </a:endParaRPr>
          </a:p>
          <a:p>
            <a:r>
              <a:rPr b="1">
                <a:solidFill>
                  <a:schemeClr val="bg1"/>
                </a:solidFill>
                <a:latin typeface="IPix"/>
                <a:ea typeface="IPix"/>
                <a:cs typeface="IPix"/>
              </a:rPr>
              <a:t>夜晚结算会遍历玩家拥有的夜市，按地块客流和摊位吸引力分配顾客，再叠加天气、消费力、食材和口碑计算收入。</a:t>
            </a:r>
            <a:endParaRPr b="1">
              <a:solidFill>
                <a:schemeClr val="bg1"/>
              </a:solidFill>
              <a:latin typeface="IPix"/>
              <a:ea typeface="IPix"/>
              <a:cs typeface="IPix"/>
            </a:endParaRPr>
          </a:p>
        </p:txBody>
      </p:sp>
      <p:sp>
        <p:nvSpPr>
          <p:cNvPr id="30" name="文本框 29"/>
          <p:cNvSpPr>
            <a:spLocks noGrp="1"/>
          </p:cNvSpPr>
          <p:nvPr/>
        </p:nvSpPr>
        <p:spPr>
          <a:xfrm>
            <a:off x="4025889" y="2637468"/>
            <a:ext cx="2972972" cy="3693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>
                <a:solidFill>
                  <a:schemeClr val="bg1"/>
                </a:solidFill>
                <a:latin typeface="IPix"/>
                <a:ea typeface="IPix"/>
                <a:cs typeface="IPix"/>
              </a:rPr>
              <a:t>随机系统</a:t>
            </a:r>
            <a:endParaRPr b="1">
              <a:solidFill>
                <a:schemeClr val="bg1"/>
              </a:solidFill>
              <a:latin typeface="IPix"/>
              <a:ea typeface="IPix"/>
              <a:cs typeface="IPix"/>
            </a:endParaRPr>
          </a:p>
          <a:p>
            <a:r>
              <a:rPr b="1">
                <a:solidFill>
                  <a:schemeClr val="bg1"/>
                </a:solidFill>
                <a:latin typeface="IPix"/>
                <a:ea typeface="IPix"/>
                <a:cs typeface="IPix"/>
              </a:rPr>
              <a:t>天气改变客流与收入；事件会增减金钱、食材、体力、口碑或触发检查；卫生检查会根据卫生值决定罚款与停业风险。</a:t>
            </a:r>
            <a:endParaRPr b="1">
              <a:solidFill>
                <a:schemeClr val="bg1"/>
              </a:solidFill>
              <a:latin typeface="IPix"/>
              <a:ea typeface="IPix"/>
              <a:cs typeface="IPix"/>
            </a:endParaRPr>
          </a:p>
        </p:txBody>
      </p:sp>
      <p:sp>
        <p:nvSpPr>
          <p:cNvPr id="31" name="文本框 30"/>
          <p:cNvSpPr>
            <a:spLocks noGrp="1"/>
          </p:cNvSpPr>
          <p:nvPr/>
        </p:nvSpPr>
        <p:spPr>
          <a:xfrm>
            <a:off x="7835873" y="2659240"/>
            <a:ext cx="2972972" cy="3693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>
                <a:solidFill>
                  <a:schemeClr val="bg1"/>
                </a:solidFill>
                <a:latin typeface="IPix"/>
                <a:ea typeface="IPix"/>
                <a:cs typeface="IPix"/>
              </a:rPr>
              <a:t>胜负系统</a:t>
            </a:r>
            <a:endParaRPr b="1">
              <a:solidFill>
                <a:schemeClr val="bg1"/>
              </a:solidFill>
              <a:latin typeface="IPix"/>
              <a:ea typeface="IPix"/>
              <a:cs typeface="IPix"/>
            </a:endParaRPr>
          </a:p>
          <a:p>
            <a:r>
              <a:rPr b="1">
                <a:solidFill>
                  <a:schemeClr val="bg1"/>
                </a:solidFill>
                <a:latin typeface="IPix"/>
                <a:ea typeface="IPix"/>
                <a:cs typeface="IPix"/>
              </a:rPr>
              <a:t>第 30 天结束时检查资金是否达到 100000。达成则进入胜利提示与无尽模式，未达成则失败。</a:t>
            </a:r>
            <a:endParaRPr b="1">
              <a:solidFill>
                <a:schemeClr val="bg1"/>
              </a:solidFill>
              <a:latin typeface="IPix"/>
              <a:ea typeface="IPix"/>
              <a:cs typeface="IPix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>
            <a:lum/>
          </a:blip>
          <a:srcRect/>
          <a:stretch>
            <a:fillRect t="-2000" b="-2000"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6" name="文本框 5"/>
          <p:cNvSpPr>
            <a:spLocks noGrp="1"/>
          </p:cNvSpPr>
          <p:nvPr/>
        </p:nvSpPr>
        <p:spPr>
          <a:xfrm>
            <a:off x="2757714" y="1284513"/>
            <a:ext cx="6734629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200" b="1">
                <a:solidFill>
                  <a:srgbClr val="754514"/>
                </a:solidFill>
                <a:latin typeface="IPix"/>
                <a:ea typeface="IPix"/>
                <a:cs typeface="IPix"/>
              </a:rPr>
              <a:t>PART FOUR</a:t>
            </a:r>
            <a:endParaRPr sz="7200" b="1">
              <a:solidFill>
                <a:srgbClr val="754514"/>
              </a:solidFill>
              <a:latin typeface="IPix"/>
              <a:ea typeface="IPix"/>
              <a:cs typeface="IPix"/>
            </a:endParaRPr>
          </a:p>
        </p:txBody>
      </p:sp>
      <p:sp>
        <p:nvSpPr>
          <p:cNvPr id="2" name="文本框 1"/>
          <p:cNvSpPr>
            <a:spLocks noGrp="1"/>
          </p:cNvSpPr>
          <p:nvPr/>
        </p:nvSpPr>
        <p:spPr>
          <a:xfrm>
            <a:off x="3048640" y="3246255"/>
            <a:ext cx="609728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sz="4800">
                <a:solidFill>
                  <a:srgbClr val="754514"/>
                </a:solidFill>
                <a:latin typeface="IPix"/>
                <a:ea typeface="IPix"/>
                <a:cs typeface="IPix"/>
              </a:rPr>
              <a:t>UI与美术呈现</a:t>
            </a:r>
            <a:endParaRPr sz="4800">
              <a:solidFill>
                <a:srgbClr val="754514"/>
              </a:solidFill>
              <a:latin typeface="IPix"/>
              <a:ea typeface="IPix"/>
              <a:cs typeface="IPix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4727281" y="4274495"/>
            <a:ext cx="553954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2800" dirty="0">
                <a:solidFill>
                  <a:srgbClr val="754514"/>
                </a:solidFill>
                <a:latin typeface="IPix" panose="02000503000000000000" pitchFamily="2" charset="-120"/>
                <a:ea typeface="IPix" panose="02000503000000000000" pitchFamily="2" charset="-120"/>
              </a:rPr>
              <a:t>汇报人：黄恒聪</a:t>
            </a:r>
            <a:endParaRPr lang="en-US" altLang="zh-CN" sz="2800" dirty="0">
              <a:solidFill>
                <a:srgbClr val="754514"/>
              </a:solidFill>
              <a:latin typeface="IPix" panose="02000503000000000000" pitchFamily="2" charset="-120"/>
              <a:ea typeface="IPix" panose="02000503000000000000" pitchFamily="2" charset="-12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>
            <a:lum/>
          </a:blip>
          <a:srcRect/>
          <a:stretch>
            <a:fillRect t="-12000" b="-12000"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10" name="文本框 9"/>
          <p:cNvSpPr>
            <a:spLocks noGrp="1"/>
          </p:cNvSpPr>
          <p:nvPr/>
        </p:nvSpPr>
        <p:spPr>
          <a:xfrm>
            <a:off x="1975545" y="1862665"/>
            <a:ext cx="3779796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>
                <a:solidFill>
                  <a:srgbClr val="713503"/>
                </a:solidFill>
                <a:latin typeface="IPix"/>
                <a:ea typeface="IPix"/>
                <a:cs typeface="IPix"/>
              </a:rPr>
              <a:t>界面结构</a:t>
            </a:r>
            <a:endParaRPr b="1">
              <a:solidFill>
                <a:srgbClr val="713503"/>
              </a:solidFill>
              <a:latin typeface="IPix"/>
              <a:ea typeface="IPix"/>
              <a:cs typeface="IPix"/>
            </a:endParaRPr>
          </a:p>
          <a:p>
            <a:r>
              <a:rPr b="1">
                <a:solidFill>
                  <a:srgbClr val="713503"/>
                </a:solidFill>
                <a:latin typeface="IPix"/>
                <a:ea typeface="IPix"/>
                <a:cs typeface="IPix"/>
              </a:rPr>
              <a:t>游戏 UI 分为顶部状态栏、左侧行动按钮、右侧地块信息栏、消息栏、夜市面板、菜单弹窗和结算弹窗。</a:t>
            </a:r>
            <a:endParaRPr b="1">
              <a:solidFill>
                <a:srgbClr val="713503"/>
              </a:solidFill>
              <a:latin typeface="IPix"/>
              <a:ea typeface="IPix"/>
              <a:cs typeface="IPix"/>
            </a:endParaRPr>
          </a:p>
        </p:txBody>
      </p:sp>
      <p:sp>
        <p:nvSpPr>
          <p:cNvPr id="12" name="文本框 11"/>
          <p:cNvSpPr>
            <a:spLocks noGrp="1"/>
          </p:cNvSpPr>
          <p:nvPr/>
        </p:nvSpPr>
        <p:spPr>
          <a:xfrm>
            <a:off x="6500159" y="1869068"/>
            <a:ext cx="3779796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>
                <a:solidFill>
                  <a:srgbClr val="713503"/>
                </a:solidFill>
                <a:latin typeface="IPix"/>
                <a:ea typeface="IPix"/>
                <a:cs typeface="IPix"/>
              </a:rPr>
              <a:t>信息反馈</a:t>
            </a:r>
            <a:endParaRPr b="1">
              <a:solidFill>
                <a:srgbClr val="713503"/>
              </a:solidFill>
              <a:latin typeface="IPix"/>
              <a:ea typeface="IPix"/>
              <a:cs typeface="IPix"/>
            </a:endParaRPr>
          </a:p>
          <a:p>
            <a:r>
              <a:rPr b="1">
                <a:solidFill>
                  <a:srgbClr val="713503"/>
                </a:solidFill>
                <a:latin typeface="IPix"/>
                <a:ea typeface="IPix"/>
                <a:cs typeface="IPix"/>
              </a:rPr>
              <a:t>右侧信息栏常驻显示当前所在地块的类型、名称和购买价格；消息栏显示事件、结算、操作失败原因和阶段变化。</a:t>
            </a:r>
            <a:endParaRPr b="1">
              <a:solidFill>
                <a:srgbClr val="713503"/>
              </a:solidFill>
              <a:latin typeface="IPix"/>
              <a:ea typeface="IPix"/>
              <a:cs typeface="IPix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>
            <a:lum/>
          </a:blip>
          <a:srcRect/>
          <a:stretch>
            <a:fillRect t="-39000" b="-39000"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4" name="矩形 3"/>
          <p:cNvSpPr>
            <a:spLocks noGrp="1"/>
          </p:cNvSpPr>
          <p:nvPr/>
        </p:nvSpPr>
        <p:spPr>
          <a:xfrm>
            <a:off x="442244" y="439052"/>
            <a:ext cx="10576704" cy="6124815"/>
          </a:xfrm>
          <a:prstGeom prst="rect">
            <a:avLst/>
          </a:prstGeom>
          <a:solidFill>
            <a:schemeClr val="bg1">
              <a:alpha val="59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pic>
        <p:nvPicPr>
          <p:cNvPr id="40" name="图片 1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34709" y="606217"/>
            <a:ext cx="1933648" cy="5621435"/>
          </a:xfrm>
          <a:prstGeom prst="rect">
            <a:avLst/>
          </a:prstGeom>
        </p:spPr>
      </p:pic>
      <p:pic>
        <p:nvPicPr>
          <p:cNvPr id="41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09280" y="-109490"/>
            <a:ext cx="2228573" cy="2253334"/>
          </a:xfrm>
          <a:prstGeom prst="rect">
            <a:avLst/>
          </a:prstGeom>
        </p:spPr>
      </p:pic>
      <p:pic>
        <p:nvPicPr>
          <p:cNvPr id="42" name="图片 1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0323" y="618000"/>
            <a:ext cx="1933648" cy="5621435"/>
          </a:xfrm>
          <a:prstGeom prst="rect">
            <a:avLst/>
          </a:prstGeom>
        </p:spPr>
      </p:pic>
      <p:pic>
        <p:nvPicPr>
          <p:cNvPr id="43" name="图片 1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73052" y="799300"/>
            <a:ext cx="1132754" cy="940975"/>
          </a:xfrm>
          <a:prstGeom prst="rect">
            <a:avLst/>
          </a:prstGeom>
        </p:spPr>
      </p:pic>
      <p:pic>
        <p:nvPicPr>
          <p:cNvPr id="44" name="图片 1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52695" y="618000"/>
            <a:ext cx="1933648" cy="5621435"/>
          </a:xfrm>
          <a:prstGeom prst="rect">
            <a:avLst/>
          </a:prstGeom>
        </p:spPr>
      </p:pic>
      <p:pic>
        <p:nvPicPr>
          <p:cNvPr id="45" name="图片 1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2351" y="608386"/>
            <a:ext cx="1933648" cy="5621435"/>
          </a:xfrm>
          <a:prstGeom prst="rect">
            <a:avLst/>
          </a:prstGeom>
        </p:spPr>
      </p:pic>
      <p:pic>
        <p:nvPicPr>
          <p:cNvPr id="46" name="图片 1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760572" y="822352"/>
            <a:ext cx="948338" cy="940975"/>
          </a:xfrm>
          <a:prstGeom prst="rect">
            <a:avLst/>
          </a:prstGeom>
        </p:spPr>
      </p:pic>
      <p:pic>
        <p:nvPicPr>
          <p:cNvPr id="47" name="图片 22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51779" y="745833"/>
            <a:ext cx="1017494" cy="1017494"/>
          </a:xfrm>
          <a:prstGeom prst="rect">
            <a:avLst/>
          </a:prstGeom>
        </p:spPr>
      </p:pic>
      <p:pic>
        <p:nvPicPr>
          <p:cNvPr id="48" name="图片 24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663417" y="606217"/>
            <a:ext cx="1190543" cy="1190543"/>
          </a:xfrm>
          <a:prstGeom prst="rect">
            <a:avLst/>
          </a:prstGeom>
        </p:spPr>
      </p:pic>
      <p:sp>
        <p:nvSpPr>
          <p:cNvPr id="26" name="文本框 25"/>
          <p:cNvSpPr>
            <a:spLocks noGrp="1"/>
          </p:cNvSpPr>
          <p:nvPr/>
        </p:nvSpPr>
        <p:spPr>
          <a:xfrm>
            <a:off x="1015042" y="2016344"/>
            <a:ext cx="1598944" cy="37548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713503"/>
                </a:solidFill>
                <a:latin typeface="IPix"/>
                <a:ea typeface="IPix"/>
                <a:cs typeface="IPix"/>
              </a:rPr>
              <a:t>主菜单</a:t>
            </a:r>
            <a:endParaRPr sz="1400" b="1">
              <a:solidFill>
                <a:srgbClr val="713503"/>
              </a:solidFill>
              <a:latin typeface="IPix"/>
              <a:ea typeface="IPix"/>
              <a:cs typeface="IPix"/>
            </a:endParaRPr>
          </a:p>
          <a:p>
            <a:r>
              <a:rPr sz="1400" b="1">
                <a:solidFill>
                  <a:srgbClr val="713503"/>
                </a:solidFill>
                <a:latin typeface="IPix"/>
                <a:ea typeface="IPix"/>
                <a:cs typeface="IPix"/>
              </a:rPr>
              <a:t>提供新游戏与退出游戏，当前新游戏直接进入 S02 游戏场景。</a:t>
            </a:r>
            <a:endParaRPr sz="1400" b="1">
              <a:solidFill>
                <a:srgbClr val="713503"/>
              </a:solidFill>
              <a:latin typeface="IPix"/>
              <a:ea typeface="IPix"/>
              <a:cs typeface="IPix"/>
            </a:endParaRPr>
          </a:p>
        </p:txBody>
      </p:sp>
      <p:sp>
        <p:nvSpPr>
          <p:cNvPr id="27" name="文本框 26"/>
          <p:cNvSpPr>
            <a:spLocks noGrp="1"/>
          </p:cNvSpPr>
          <p:nvPr/>
        </p:nvSpPr>
        <p:spPr>
          <a:xfrm>
            <a:off x="3473689" y="1969526"/>
            <a:ext cx="1598944" cy="37548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713503"/>
                </a:solidFill>
                <a:latin typeface="IPix"/>
                <a:ea typeface="IPix"/>
                <a:cs typeface="IPix"/>
              </a:rPr>
              <a:t>地图表现</a:t>
            </a:r>
            <a:endParaRPr sz="1400" b="1">
              <a:solidFill>
                <a:srgbClr val="713503"/>
              </a:solidFill>
              <a:latin typeface="IPix"/>
              <a:ea typeface="IPix"/>
              <a:cs typeface="IPix"/>
            </a:endParaRPr>
          </a:p>
          <a:p>
            <a:r>
              <a:rPr sz="1400" b="1">
                <a:solidFill>
                  <a:srgbClr val="713503"/>
                </a:solidFill>
                <a:latin typeface="IPix"/>
                <a:ea typeface="IPix"/>
                <a:cs typeface="IPix"/>
              </a:rPr>
              <a:t>地块以棋盘方式组织，玩家通过高亮地块选择移动目标。</a:t>
            </a:r>
            <a:endParaRPr sz="1400" b="1">
              <a:solidFill>
                <a:srgbClr val="713503"/>
              </a:solidFill>
              <a:latin typeface="IPix"/>
              <a:ea typeface="IPix"/>
              <a:cs typeface="IPix"/>
            </a:endParaRPr>
          </a:p>
        </p:txBody>
      </p:sp>
      <p:sp>
        <p:nvSpPr>
          <p:cNvPr id="28" name="文本框 27"/>
          <p:cNvSpPr>
            <a:spLocks noGrp="1"/>
          </p:cNvSpPr>
          <p:nvPr/>
        </p:nvSpPr>
        <p:spPr>
          <a:xfrm>
            <a:off x="6048345" y="1977922"/>
            <a:ext cx="1598944" cy="37548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713503"/>
                </a:solidFill>
                <a:latin typeface="IPix"/>
                <a:ea typeface="IPix"/>
                <a:cs typeface="IPix"/>
              </a:rPr>
              <a:t>夜市面板</a:t>
            </a:r>
            <a:endParaRPr sz="1400" b="1">
              <a:solidFill>
                <a:srgbClr val="713503"/>
              </a:solidFill>
              <a:latin typeface="IPix"/>
              <a:ea typeface="IPix"/>
              <a:cs typeface="IPix"/>
            </a:endParaRPr>
          </a:p>
          <a:p>
            <a:r>
              <a:rPr sz="1400" b="1">
                <a:solidFill>
                  <a:srgbClr val="713503"/>
                </a:solidFill>
                <a:latin typeface="IPix"/>
                <a:ea typeface="IPix"/>
                <a:cs typeface="IPix"/>
              </a:rPr>
              <a:t>支持购买夜市、升级夜市、查看摊位数量、建设和升级摊位。</a:t>
            </a:r>
            <a:endParaRPr sz="1400" b="1">
              <a:solidFill>
                <a:srgbClr val="713503"/>
              </a:solidFill>
              <a:latin typeface="IPix"/>
              <a:ea typeface="IPix"/>
              <a:cs typeface="IPix"/>
            </a:endParaRPr>
          </a:p>
        </p:txBody>
      </p:sp>
      <p:sp>
        <p:nvSpPr>
          <p:cNvPr id="29" name="文本框 28"/>
          <p:cNvSpPr>
            <a:spLocks noGrp="1"/>
          </p:cNvSpPr>
          <p:nvPr/>
        </p:nvSpPr>
        <p:spPr>
          <a:xfrm>
            <a:off x="8571098" y="1939500"/>
            <a:ext cx="1598944" cy="37548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713503"/>
                </a:solidFill>
                <a:latin typeface="IPix"/>
                <a:ea typeface="IPix"/>
                <a:cs typeface="IPix"/>
              </a:rPr>
              <a:t>结算反馈</a:t>
            </a:r>
            <a:endParaRPr sz="1400" b="1">
              <a:solidFill>
                <a:srgbClr val="713503"/>
              </a:solidFill>
              <a:latin typeface="IPix"/>
              <a:ea typeface="IPix"/>
              <a:cs typeface="IPix"/>
            </a:endParaRPr>
          </a:p>
          <a:p>
            <a:r>
              <a:rPr sz="1400" b="1">
                <a:solidFill>
                  <a:srgbClr val="713503"/>
                </a:solidFill>
                <a:latin typeface="IPix"/>
                <a:ea typeface="IPix"/>
                <a:cs typeface="IPix"/>
              </a:rPr>
              <a:t>进入黑夜后展示当晚经营结果，并推进到下一天。</a:t>
            </a:r>
            <a:endParaRPr sz="1400" b="1">
              <a:solidFill>
                <a:srgbClr val="713503"/>
              </a:solidFill>
              <a:latin typeface="IPix"/>
              <a:ea typeface="IPix"/>
              <a:cs typeface="IPix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pic>
        <p:nvPicPr>
          <p:cNvPr id="18" name="内容占位符 11"/>
          <p:cNvPicPr>
            <a:picLocks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94238" y="806824"/>
            <a:ext cx="10373343" cy="5939758"/>
          </a:xfrm>
          <a:prstGeom prst="rect">
            <a:avLst/>
          </a:prstGeom>
        </p:spPr>
      </p:pic>
      <p:sp>
        <p:nvSpPr>
          <p:cNvPr id="15" name="文本框 14"/>
          <p:cNvSpPr>
            <a:spLocks noGrp="1"/>
          </p:cNvSpPr>
          <p:nvPr/>
        </p:nvSpPr>
        <p:spPr>
          <a:xfrm>
            <a:off x="1533285" y="1675120"/>
            <a:ext cx="8425223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>
                <a:solidFill>
                  <a:schemeClr val="tx1">
                    <a:lumMod val="85000"/>
                    <a:lumOff val="15000"/>
                  </a:schemeClr>
                </a:solidFill>
                <a:latin typeface="IPix"/>
                <a:ea typeface="IPix"/>
                <a:cs typeface="IPix"/>
              </a:rPr>
              <a:t>当前完成度</a:t>
            </a:r>
            <a:endParaRPr sz="2400">
              <a:solidFill>
                <a:schemeClr val="tx1">
                  <a:lumMod val="85000"/>
                  <a:lumOff val="15000"/>
                </a:schemeClr>
              </a:solidFill>
              <a:latin typeface="IPix"/>
              <a:ea typeface="IPix"/>
              <a:cs typeface="IPix"/>
            </a:endParaRPr>
          </a:p>
          <a:p>
            <a:r>
              <a:rPr sz="2400">
                <a:solidFill>
                  <a:schemeClr val="tx1">
                    <a:lumMod val="85000"/>
                    <a:lumOff val="15000"/>
                  </a:schemeClr>
                </a:solidFill>
                <a:latin typeface="IPix"/>
                <a:ea typeface="IPix"/>
                <a:cs typeface="IPix"/>
              </a:rPr>
              <a:t>已完成主菜单、地图移动、地块信息、夜市购买、摊位管理、夜晚结算、贷款利息、随机事件、天气、卫生检查、消息栏反馈和胜负判断。</a:t>
            </a:r>
            <a:endParaRPr sz="2400">
              <a:solidFill>
                <a:schemeClr val="tx1">
                  <a:lumMod val="85000"/>
                  <a:lumOff val="15000"/>
                </a:schemeClr>
              </a:solidFill>
              <a:latin typeface="IPix"/>
              <a:ea typeface="IPix"/>
              <a:cs typeface="IPix"/>
            </a:endParaRPr>
          </a:p>
          <a:p>
            <a:endParaRPr sz="2400"/>
          </a:p>
          <a:p>
            <a:r>
              <a:rPr sz="2400">
                <a:solidFill>
                  <a:schemeClr val="tx1">
                    <a:lumMod val="85000"/>
                    <a:lumOff val="15000"/>
                  </a:schemeClr>
                </a:solidFill>
                <a:latin typeface="IPix"/>
                <a:ea typeface="IPix"/>
                <a:cs typeface="IPix"/>
              </a:rPr>
              <a:t>后续优化方向</a:t>
            </a:r>
            <a:endParaRPr sz="2400">
              <a:solidFill>
                <a:schemeClr val="tx1">
                  <a:lumMod val="85000"/>
                  <a:lumOff val="15000"/>
                </a:schemeClr>
              </a:solidFill>
              <a:latin typeface="IPix"/>
              <a:ea typeface="IPix"/>
              <a:cs typeface="IPix"/>
            </a:endParaRPr>
          </a:p>
          <a:p>
            <a:r>
              <a:rPr sz="2400">
                <a:solidFill>
                  <a:schemeClr val="tx1">
                    <a:lumMod val="85000"/>
                    <a:lumOff val="15000"/>
                  </a:schemeClr>
                </a:solidFill>
                <a:latin typeface="IPix"/>
                <a:ea typeface="IPix"/>
                <a:cs typeface="IPix"/>
              </a:rPr>
              <a:t>补充教程与存档；强化事件选择弹窗；加入更多校园区域、摊位和角色事件；继续平衡收益、成本和胜利目标。</a:t>
            </a:r>
            <a:endParaRPr sz="2400">
              <a:solidFill>
                <a:schemeClr val="tx1">
                  <a:lumMod val="85000"/>
                  <a:lumOff val="15000"/>
                </a:schemeClr>
              </a:solidFill>
              <a:latin typeface="IPix"/>
              <a:ea typeface="IPix"/>
              <a:cs typeface="IPix"/>
            </a:endParaRPr>
          </a:p>
        </p:txBody>
      </p:sp>
      <p:pic>
        <p:nvPicPr>
          <p:cNvPr id="20" name="图片 1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21106" y="3546237"/>
            <a:ext cx="1163958" cy="271036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pic>
        <p:nvPicPr>
          <p:cNvPr id="7" name="内容占位符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83599" y="2773928"/>
            <a:ext cx="5806601" cy="1567552"/>
          </a:xfrm>
          <a:prstGeom prst="rect">
            <a:avLst/>
          </a:prstGeom>
        </p:spPr>
      </p:pic>
      <p:sp>
        <p:nvSpPr>
          <p:cNvPr id="4" name="文本框 3"/>
          <p:cNvSpPr>
            <a:spLocks noGrp="1"/>
          </p:cNvSpPr>
          <p:nvPr/>
        </p:nvSpPr>
        <p:spPr>
          <a:xfrm>
            <a:off x="4203149" y="2883428"/>
            <a:ext cx="4672734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200">
                <a:solidFill>
                  <a:srgbClr val="754514"/>
                </a:solidFill>
                <a:latin typeface="IPix"/>
                <a:ea typeface="IPix"/>
                <a:cs typeface="IPix"/>
              </a:rPr>
              <a:t>谢谢观看</a:t>
            </a:r>
            <a:endParaRPr sz="7200">
              <a:solidFill>
                <a:srgbClr val="754514"/>
              </a:solidFill>
              <a:latin typeface="IPix"/>
              <a:ea typeface="IPix"/>
              <a:cs typeface="IPix"/>
            </a:endParaRPr>
          </a:p>
          <a:p>
            <a:r>
              <a:rPr sz="7200">
                <a:solidFill>
                  <a:srgbClr val="754514"/>
                </a:solidFill>
                <a:latin typeface="IPix"/>
                <a:ea typeface="IPix"/>
                <a:cs typeface="IPix"/>
              </a:rPr>
              <a:t>欢迎提问</a:t>
            </a:r>
            <a:endParaRPr sz="7200">
              <a:solidFill>
                <a:srgbClr val="754514"/>
              </a:solidFill>
              <a:latin typeface="IPix"/>
              <a:ea typeface="IPix"/>
              <a:cs typeface="IPix"/>
            </a:endParaRPr>
          </a:p>
        </p:txBody>
      </p:sp>
      <p:pic>
        <p:nvPicPr>
          <p:cNvPr id="9" name="图片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95876" y="3171901"/>
            <a:ext cx="771606" cy="771606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pic>
        <p:nvPicPr>
          <p:cNvPr id="5" name="内容占位符 4"/>
          <p:cNvPicPr>
            <a:picLocks noChangeAspect="1"/>
          </p:cNvPicPr>
          <p:nvPr>
            <p:ph idx="1"/>
          </p:nvPr>
        </p:nvPicPr>
        <p:blipFill>
          <a:blip r:embed="rId1"/>
          <a:srcRect t="30665" b="34910"/>
          <a:stretch>
            <a:fillRect/>
          </a:stretch>
        </p:blipFill>
        <p:spPr>
          <a:xfrm>
            <a:off x="1247461" y="1027906"/>
            <a:ext cx="9442003" cy="3990659"/>
          </a:xfr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1852</Words>
  <Application>WPS 演示</Application>
  <PresentationFormat>Converted Presentation</PresentationFormat>
  <Paragraphs>153</Paragraphs>
  <Slides>21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21</vt:i4>
      </vt:variant>
    </vt:vector>
  </HeadingPairs>
  <TitlesOfParts>
    <vt:vector size="35" baseType="lpstr">
      <vt:lpstr>Arial</vt:lpstr>
      <vt:lpstr>宋体</vt:lpstr>
      <vt:lpstr>Wingdings</vt:lpstr>
      <vt:lpstr>IPix</vt:lpstr>
      <vt:lpstr>Segoe Print</vt:lpstr>
      <vt:lpstr>微软雅黑</vt:lpstr>
      <vt:lpstr>Arial Unicode MS</vt:lpstr>
      <vt:lpstr>等线 Light</vt:lpstr>
      <vt:lpstr>等线</vt:lpstr>
      <vt:lpstr>Calibri</vt:lpstr>
      <vt:lpstr>IPix</vt:lpstr>
      <vt:lpstr>IPix</vt:lpstr>
      <vt:lpstr>Saitamaar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明微</cp:lastModifiedBy>
  <cp:revision>1</cp:revision>
  <dcterms:created xsi:type="dcterms:W3CDTF">2026-06-17T13:36:45Z</dcterms:created>
  <dcterms:modified xsi:type="dcterms:W3CDTF">2026-06-17T13:36:45Z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2052-12.1.0.26895</vt:lpwstr>
  </property>
  <property fmtid="{D5CDD505-2E9C-101B-9397-08002B2CF9AE}" pid="3" name="ICV">
    <vt:lpwstr>E6FBE97AA4824623B0201B8BEB206E36_12</vt:lpwstr>
  </property>
</Properties>
</file>