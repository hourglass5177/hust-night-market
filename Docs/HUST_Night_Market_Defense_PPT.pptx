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7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29413C4-002E-4313-96BE-7DDEDC8357AA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413C4-002E-4313-96BE-7DDEDC8357AA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67CC37-1665-41E3-B3BB-40C551FD5263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413C4-002E-4313-96BE-7DDEDC8357AA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GIF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3.GIF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.png"/><Relationship Id="rId8" Type="http://schemas.openxmlformats.org/officeDocument/2006/relationships/image" Target="../media/image23.png"/><Relationship Id="rId7" Type="http://schemas.openxmlformats.org/officeDocument/2006/relationships/image" Target="../media/image22.png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1" Type="http://schemas.openxmlformats.org/officeDocument/2006/relationships/notesSlide" Target="../notesSlides/notesSlide7.xm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0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jpe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37.png"/><Relationship Id="rId2" Type="http://schemas.openxmlformats.org/officeDocument/2006/relationships/tags" Target="../tags/tag1.xml"/><Relationship Id="rId11" Type="http://schemas.openxmlformats.org/officeDocument/2006/relationships/notesSlide" Target="../notesSlides/notesSlide14.xm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32.jpe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4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image" Target="../media/image37.png"/><Relationship Id="rId2" Type="http://schemas.openxmlformats.org/officeDocument/2006/relationships/tags" Target="../tags/tag8.xml"/><Relationship Id="rId11" Type="http://schemas.openxmlformats.org/officeDocument/2006/relationships/notesSlide" Target="../notesSlides/notesSlide15.xml"/><Relationship Id="rId10" Type="http://schemas.openxmlformats.org/officeDocument/2006/relationships/slideLayout" Target="../slideLayouts/slideLayout13.xml"/><Relationship Id="rId1" Type="http://schemas.openxmlformats.org/officeDocument/2006/relationships/image" Target="../media/image32.jpe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6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16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2.jpe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9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48.png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3" Type="http://schemas.openxmlformats.org/officeDocument/2006/relationships/image" Target="../media/image44.png"/><Relationship Id="rId2" Type="http://schemas.openxmlformats.org/officeDocument/2006/relationships/image" Target="../media/image27.png"/><Relationship Id="rId1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image" Target="../media/image49.jpe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3.png"/><Relationship Id="rId2" Type="http://schemas.openxmlformats.org/officeDocument/2006/relationships/image" Target="../media/image6.png"/><Relationship Id="rId1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0" name="图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695" y="3818786"/>
            <a:ext cx="5105466" cy="2179482"/>
          </a:xfrm>
          <a:prstGeom prst="rect">
            <a:avLst/>
          </a:prstGeom>
        </p:spPr>
      </p:pic>
      <p:pic>
        <p:nvPicPr>
          <p:cNvPr id="22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777" y="4400725"/>
            <a:ext cx="861884" cy="656061"/>
          </a:xfrm>
          <a:prstGeom prst="rect">
            <a:avLst/>
          </a:prstGeom>
        </p:spPr>
      </p:pic>
      <p:pic>
        <p:nvPicPr>
          <p:cNvPr id="23" name="图片 8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486525" y="485787"/>
            <a:ext cx="861884" cy="656061"/>
          </a:xfrm>
          <a:prstGeom prst="rect">
            <a:avLst/>
          </a:prstGeom>
        </p:spPr>
      </p:pic>
      <p:pic>
        <p:nvPicPr>
          <p:cNvPr id="24" name="图片 9"/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36279" y="636678"/>
            <a:ext cx="861884" cy="656061"/>
          </a:xfrm>
          <a:prstGeom prst="rect">
            <a:avLst/>
          </a:prstGeom>
        </p:spPr>
      </p:pic>
      <p:pic>
        <p:nvPicPr>
          <p:cNvPr id="25" name="图片 4"/>
          <p:cNvPicPr>
            <a:picLocks noChangeAspect="1"/>
          </p:cNvPicPr>
          <p:nvPr/>
        </p:nvPicPr>
        <p:blipFill>
          <a:blip r:embed="rId4"/>
          <a:srcRect l="1488" t="8961" r="2268" b="18545"/>
          <a:stretch>
            <a:fillRect/>
          </a:stretch>
        </p:blipFill>
        <p:spPr>
          <a:xfrm>
            <a:off x="2266373" y="1453003"/>
            <a:ext cx="7659254" cy="2713707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170331" y="4370644"/>
            <a:ext cx="4316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accent2">
                    <a:lumMod val="50000"/>
                  </a:schemeClr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汇报小组：</a:t>
            </a:r>
            <a:r>
              <a:rPr lang="en-US" altLang="zh-CN" sz="2400" b="1" dirty="0" err="1">
                <a:solidFill>
                  <a:schemeClr val="accent2">
                    <a:lumMod val="50000"/>
                  </a:schemeClr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sbaem</a:t>
            </a:r>
            <a:r>
              <a:rPr lang="zh-CN" altLang="en-US" sz="2400" b="1" dirty="0">
                <a:solidFill>
                  <a:schemeClr val="accent2">
                    <a:lumMod val="50000"/>
                  </a:schemeClr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游戏管家</a:t>
            </a:r>
            <a:endParaRPr lang="zh-CN" altLang="en-US" sz="2400" b="1" dirty="0">
              <a:solidFill>
                <a:schemeClr val="accent2">
                  <a:lumMod val="50000"/>
                </a:schemeClr>
              </a:solidFill>
              <a:latin typeface="IPix" panose="02000503000000000000" pitchFamily="2" charset="-120"/>
              <a:ea typeface="IPix" panose="02000503000000000000" pitchFamily="2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18" name="内容占位符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19" y="544164"/>
            <a:ext cx="4816501" cy="1569659"/>
          </a:xfrm>
          <a:prstGeom prst="rect">
            <a:avLst/>
          </a:prstGeom>
        </p:spPr>
      </p:pic>
      <p:sp>
        <p:nvSpPr>
          <p:cNvPr id="5" name="文本框 4"/>
          <p:cNvSpPr>
            <a:spLocks noGrp="1"/>
          </p:cNvSpPr>
          <p:nvPr/>
        </p:nvSpPr>
        <p:spPr>
          <a:xfrm>
            <a:off x="836712" y="731454"/>
            <a:ext cx="448491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目录 content</a:t>
            </a:r>
            <a:endParaRPr sz="60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20" name="图片 3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635647" y="2479310"/>
            <a:ext cx="4887044" cy="4123413"/>
          </a:xfrm>
          <a:prstGeom prst="rect">
            <a:avLst/>
          </a:prstGeom>
        </p:spPr>
      </p:pic>
      <p:sp>
        <p:nvSpPr>
          <p:cNvPr id="10" name="直接连接符 9"/>
          <p:cNvSpPr>
            <a:spLocks noGrp="1"/>
          </p:cNvSpPr>
          <p:nvPr/>
        </p:nvSpPr>
        <p:spPr>
          <a:xfrm flipH="1" flipV="1">
            <a:off x="5660571" y="101600"/>
            <a:ext cx="43441" cy="6501123"/>
          </a:xfrm>
          <a:prstGeom prst="line">
            <a:avLst/>
          </a:prstGeom>
          <a:ln w="57150">
            <a:solidFill>
              <a:srgbClr val="FEFD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22" name="内容占位符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1891" y="629746"/>
            <a:ext cx="5747765" cy="907965"/>
          </a:xfrm>
          <a:prstGeom prst="rect">
            <a:avLst/>
          </a:prstGeom>
        </p:spPr>
      </p:pic>
      <p:pic>
        <p:nvPicPr>
          <p:cNvPr id="23" name="内容占位符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1892" y="2157324"/>
            <a:ext cx="5747765" cy="907965"/>
          </a:xfrm>
          <a:prstGeom prst="rect">
            <a:avLst/>
          </a:prstGeom>
        </p:spPr>
      </p:pic>
      <p:pic>
        <p:nvPicPr>
          <p:cNvPr id="24" name="内容占位符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1892" y="3725650"/>
            <a:ext cx="5747765" cy="907965"/>
          </a:xfrm>
          <a:prstGeom prst="rect">
            <a:avLst/>
          </a:prstGeom>
        </p:spPr>
      </p:pic>
      <p:pic>
        <p:nvPicPr>
          <p:cNvPr id="25" name="内容占位符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1892" y="5267748"/>
            <a:ext cx="5747765" cy="881737"/>
          </a:xfrm>
          <a:prstGeom prst="rect">
            <a:avLst/>
          </a:prstGeom>
        </p:spPr>
      </p:pic>
      <p:sp>
        <p:nvSpPr>
          <p:cNvPr id="7" name="文本框 6"/>
          <p:cNvSpPr>
            <a:spLocks noGrp="1"/>
          </p:cNvSpPr>
          <p:nvPr/>
        </p:nvSpPr>
        <p:spPr>
          <a:xfrm>
            <a:off x="6022348" y="3830239"/>
            <a:ext cx="6097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solidFill>
                  <a:srgbClr val="713503"/>
                </a:solidFill>
                <a:latin typeface="IPix"/>
                <a:ea typeface="IPix"/>
                <a:cs typeface="IPix"/>
              </a:rPr>
              <a:t>03. 游戏系统设计</a:t>
            </a:r>
            <a:endParaRPr sz="36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5967280" y="5352951"/>
            <a:ext cx="6097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solidFill>
                  <a:srgbClr val="713503"/>
                </a:solidFill>
                <a:latin typeface="IPix"/>
                <a:ea typeface="IPix"/>
                <a:cs typeface="IPix"/>
              </a:rPr>
              <a:t>04. UI与美术呈现</a:t>
            </a:r>
            <a:endParaRPr sz="36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9" name="文本框 8"/>
          <p:cNvSpPr>
            <a:spLocks noGrp="1"/>
          </p:cNvSpPr>
          <p:nvPr/>
        </p:nvSpPr>
        <p:spPr>
          <a:xfrm>
            <a:off x="6012104" y="2275511"/>
            <a:ext cx="6097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solidFill>
                  <a:srgbClr val="713503"/>
                </a:solidFill>
                <a:latin typeface="IPix"/>
                <a:ea typeface="IPix"/>
                <a:cs typeface="IPix"/>
              </a:rPr>
              <a:t>02. 游戏策划灵感</a:t>
            </a:r>
            <a:endParaRPr sz="36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6041560" y="752799"/>
            <a:ext cx="6097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solidFill>
                  <a:srgbClr val="713503"/>
                </a:solidFill>
                <a:latin typeface="IPix"/>
                <a:ea typeface="IPix"/>
                <a:cs typeface="IPix"/>
              </a:rPr>
              <a:t>01. 游戏展示</a:t>
            </a:r>
            <a:endParaRPr sz="36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3077029" y="1284514"/>
            <a:ext cx="60742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PART  ONE</a:t>
            </a:r>
            <a:endParaRPr sz="72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2" name="文本框 1"/>
          <p:cNvSpPr>
            <a:spLocks noGrp="1"/>
          </p:cNvSpPr>
          <p:nvPr/>
        </p:nvSpPr>
        <p:spPr>
          <a:xfrm>
            <a:off x="3048640" y="3246255"/>
            <a:ext cx="6097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800">
                <a:solidFill>
                  <a:srgbClr val="754514"/>
                </a:solidFill>
                <a:latin typeface="IPix"/>
                <a:ea typeface="IPix"/>
                <a:cs typeface="IPix"/>
              </a:rPr>
              <a:t>游戏展示</a:t>
            </a:r>
            <a:endParaRPr sz="4800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823028" y="1351749"/>
            <a:ext cx="65459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PART  TWO</a:t>
            </a:r>
            <a:endParaRPr sz="72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3048640" y="3246255"/>
            <a:ext cx="6097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800">
                <a:solidFill>
                  <a:srgbClr val="754514"/>
                </a:solidFill>
                <a:latin typeface="IPix"/>
                <a:ea typeface="IPix"/>
                <a:cs typeface="IPix"/>
              </a:rPr>
              <a:t>游戏策划灵感</a:t>
            </a:r>
            <a:endParaRPr sz="4800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370934" y="4577054"/>
            <a:ext cx="55395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>
                <a:solidFill>
                  <a:srgbClr val="754514"/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汇报人：高致远</a:t>
            </a:r>
            <a:endParaRPr lang="zh-CN" altLang="en-US" sz="4800" dirty="0">
              <a:solidFill>
                <a:srgbClr val="754514"/>
              </a:solidFill>
              <a:latin typeface="IPix" panose="02000503000000000000" pitchFamily="2" charset="-120"/>
              <a:ea typeface="IPix" panose="02000503000000000000" pitchFamily="2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矩形: 圆角 3"/>
          <p:cNvSpPr>
            <a:spLocks noGrp="1"/>
          </p:cNvSpPr>
          <p:nvPr/>
        </p:nvSpPr>
        <p:spPr>
          <a:xfrm>
            <a:off x="461042" y="1874904"/>
            <a:ext cx="11349318" cy="4479792"/>
          </a:xfrm>
          <a:prstGeom prst="roundRect">
            <a:avLst/>
          </a:prstGeom>
          <a:solidFill>
            <a:srgbClr val="FAEBC2"/>
          </a:solidFill>
          <a:ln w="31750">
            <a:solidFill>
              <a:srgbClr val="7545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25" name="图片 6"/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699566" y="2255103"/>
            <a:ext cx="3472863" cy="3472863"/>
          </a:xfrm>
          <a:prstGeom prst="rect">
            <a:avLst/>
          </a:prstGeom>
        </p:spPr>
      </p:pic>
      <p:pic>
        <p:nvPicPr>
          <p:cNvPr id="26" name="图片 8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4410953" y="2255103"/>
            <a:ext cx="3472864" cy="3472864"/>
          </a:xfrm>
          <a:prstGeom prst="rect">
            <a:avLst/>
          </a:prstGeom>
        </p:spPr>
      </p:pic>
      <p:sp>
        <p:nvSpPr>
          <p:cNvPr id="12" name="文本框 11"/>
          <p:cNvSpPr>
            <a:spLocks noGrp="1"/>
          </p:cNvSpPr>
          <p:nvPr/>
        </p:nvSpPr>
        <p:spPr>
          <a:xfrm>
            <a:off x="699566" y="2406640"/>
            <a:ext cx="341864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54514"/>
                </a:solidFill>
                <a:latin typeface="IPix"/>
                <a:ea typeface="IPix"/>
                <a:cs typeface="IPix"/>
              </a:rPr>
              <a:t>项目定位</a:t>
            </a:r>
            <a:endParaRPr b="1">
              <a:solidFill>
                <a:srgbClr val="754514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54514"/>
                </a:solidFill>
                <a:latin typeface="IPix"/>
                <a:ea typeface="IPix"/>
                <a:cs typeface="IPix"/>
              </a:rPr>
              <a:t>以校园夜市为主题的回合制经营策略游戏。玩家通过掷骰移动、到达地块、购买夜市、建设摊位和夜晚结算，在限定天数内完成资金目标。</a:t>
            </a:r>
            <a:endParaRPr b="1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4480538" y="2255103"/>
            <a:ext cx="341864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54514"/>
                </a:solidFill>
                <a:latin typeface="IPix"/>
                <a:ea typeface="IPix"/>
                <a:cs typeface="IPix"/>
              </a:rPr>
              <a:t>核心体验</a:t>
            </a:r>
            <a:endParaRPr b="1">
              <a:solidFill>
                <a:srgbClr val="754514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54514"/>
                </a:solidFill>
                <a:latin typeface="IPix"/>
                <a:ea typeface="IPix"/>
                <a:cs typeface="IPix"/>
              </a:rPr>
              <a:t>白天在地图上规划路线并触发事件；夜晚经营夜市并获得收益。玩家需要平衡金钱、食材、体力、口碑和贷款压力。</a:t>
            </a:r>
            <a:endParaRPr b="1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29" name="图片 14"/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8122341" y="2247418"/>
            <a:ext cx="3488231" cy="3488231"/>
          </a:xfrm>
          <a:prstGeom prst="rect">
            <a:avLst/>
          </a:prstGeom>
        </p:spPr>
      </p:pic>
      <p:sp>
        <p:nvSpPr>
          <p:cNvPr id="16" name="文本框 15"/>
          <p:cNvSpPr>
            <a:spLocks noGrp="1"/>
          </p:cNvSpPr>
          <p:nvPr/>
        </p:nvSpPr>
        <p:spPr>
          <a:xfrm>
            <a:off x="8291820" y="2283373"/>
            <a:ext cx="341864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54514"/>
                </a:solidFill>
                <a:latin typeface="IPix"/>
                <a:ea typeface="IPix"/>
                <a:cs typeface="IPix"/>
              </a:rPr>
              <a:t>答辩重点</a:t>
            </a:r>
            <a:endParaRPr b="1">
              <a:solidFill>
                <a:srgbClr val="754514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54514"/>
                </a:solidFill>
                <a:latin typeface="IPix"/>
                <a:ea typeface="IPix"/>
                <a:cs typeface="IPix"/>
              </a:rPr>
              <a:t>本版本已经形成完整闭环：主菜单进入游戏、地图移动、地块信息、夜市购买、摊位建设、随机事件、天气、卫生检查与胜负判断。</a:t>
            </a:r>
            <a:endParaRPr b="1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31" name="图片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7475" y="268267"/>
            <a:ext cx="3296452" cy="1550093"/>
          </a:xfrm>
          <a:prstGeom prst="rect">
            <a:avLst/>
          </a:prstGeom>
        </p:spPr>
      </p:pic>
      <p:pic>
        <p:nvPicPr>
          <p:cNvPr id="32" name="图片 17"/>
          <p:cNvPicPr>
            <a:picLocks noChangeAspect="1"/>
          </p:cNvPicPr>
          <p:nvPr/>
        </p:nvPicPr>
        <p:blipFill>
          <a:blip r:embed="rId6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02402" y="5755179"/>
            <a:ext cx="861884" cy="656061"/>
          </a:xfrm>
          <a:prstGeom prst="rect">
            <a:avLst/>
          </a:prstGeom>
        </p:spPr>
      </p:pic>
      <p:pic>
        <p:nvPicPr>
          <p:cNvPr id="33" name="图片 18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32718" y="592113"/>
            <a:ext cx="861884" cy="656061"/>
          </a:xfrm>
          <a:prstGeom prst="rect">
            <a:avLst/>
          </a:prstGeom>
        </p:spPr>
      </p:pic>
      <p:pic>
        <p:nvPicPr>
          <p:cNvPr id="34" name="图片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5514" y="1158307"/>
            <a:ext cx="861884" cy="6560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19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288" y="1051430"/>
            <a:ext cx="1857614" cy="1238409"/>
          </a:xfrm>
          <a:prstGeom prst="rect">
            <a:avLst/>
          </a:prstGeom>
          <a:ln w="104775">
            <a:solidFill>
              <a:srgbClr val="754514"/>
            </a:solidFill>
          </a:ln>
        </p:spPr>
      </p:pic>
      <p:sp>
        <p:nvSpPr>
          <p:cNvPr id="7" name="文本框 6"/>
          <p:cNvSpPr>
            <a:spLocks noGrp="1"/>
          </p:cNvSpPr>
          <p:nvPr/>
        </p:nvSpPr>
        <p:spPr>
          <a:xfrm>
            <a:off x="1158369" y="2944649"/>
            <a:ext cx="2906486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 i="0">
                <a:solidFill>
                  <a:srgbClr val="713503"/>
                </a:solidFill>
                <a:latin typeface="IPix"/>
                <a:ea typeface="IPix"/>
                <a:cs typeface="IPix"/>
              </a:rPr>
              <a:t>校园夜市</a:t>
            </a:r>
            <a:endParaRPr sz="2400" b="1" i="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pPr algn="l">
              <a:buNone/>
            </a:pPr>
            <a:r>
              <a:rPr b="1" i="0">
                <a:solidFill>
                  <a:srgbClr val="713503"/>
                </a:solidFill>
                <a:latin typeface="IPix"/>
                <a:ea typeface="IPix"/>
                <a:cs typeface="IPix"/>
              </a:rPr>
              <a:t>题材来自校园生活中的夜市、摊位、社团活动和学生消费场景，让经营目标更贴近玩家经验。</a:t>
            </a:r>
            <a:endParaRPr b="1" i="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21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114" y="1051430"/>
            <a:ext cx="1911722" cy="1238409"/>
          </a:xfrm>
          <a:prstGeom prst="rect">
            <a:avLst/>
          </a:prstGeom>
          <a:ln w="104775">
            <a:solidFill>
              <a:srgbClr val="754514"/>
            </a:solidFill>
          </a:ln>
        </p:spPr>
      </p:pic>
      <p:sp>
        <p:nvSpPr>
          <p:cNvPr id="11" name="文本框 10"/>
          <p:cNvSpPr>
            <a:spLocks noGrp="1"/>
          </p:cNvSpPr>
          <p:nvPr/>
        </p:nvSpPr>
        <p:spPr>
          <a:xfrm>
            <a:off x="5040565" y="2898545"/>
            <a:ext cx="371331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大富翁式移动</a:t>
            </a:r>
            <a:endParaRPr sz="2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采用掷骰和地块移动结构，让每一天都有路线选择、资源取舍和随机性。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23" name="图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0647" y="1051431"/>
            <a:ext cx="1857614" cy="1238409"/>
          </a:xfrm>
          <a:prstGeom prst="rect">
            <a:avLst/>
          </a:prstGeom>
          <a:ln w="104775">
            <a:solidFill>
              <a:srgbClr val="754514"/>
            </a:solidFill>
          </a:ln>
        </p:spPr>
      </p:pic>
      <p:sp>
        <p:nvSpPr>
          <p:cNvPr id="15" name="文本框 14"/>
          <p:cNvSpPr>
            <a:spLocks noGrp="1"/>
          </p:cNvSpPr>
          <p:nvPr/>
        </p:nvSpPr>
        <p:spPr>
          <a:xfrm>
            <a:off x="9213155" y="2923261"/>
            <a:ext cx="2197635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模拟经营</a:t>
            </a:r>
            <a:endParaRPr sz="2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夜市、摊位、客流、食材、天气和口碑共同影响收益，形成可解释的策略系统。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36" name="内容占位符 4"/>
          <p:cNvPicPr>
            <a:picLocks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8907" y="1469124"/>
            <a:ext cx="10454186" cy="5117567"/>
          </a:xfrm>
        </p:spPr>
      </p:pic>
      <p:pic>
        <p:nvPicPr>
          <p:cNvPr id="37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841"/>
            <a:ext cx="2635624" cy="1392283"/>
          </a:xfrm>
          <a:prstGeom prst="rect">
            <a:avLst/>
          </a:prstGeom>
        </p:spPr>
      </p:pic>
      <p:pic>
        <p:nvPicPr>
          <p:cNvPr id="38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214" y="1927391"/>
            <a:ext cx="923330" cy="923330"/>
          </a:xfrm>
          <a:prstGeom prst="rect">
            <a:avLst/>
          </a:prstGeom>
        </p:spPr>
      </p:pic>
      <p:sp>
        <p:nvSpPr>
          <p:cNvPr id="7" name="文本框 6"/>
          <p:cNvSpPr>
            <a:spLocks noGrp="1"/>
          </p:cNvSpPr>
          <p:nvPr/>
        </p:nvSpPr>
        <p:spPr>
          <a:xfrm>
            <a:off x="2197633" y="1848009"/>
            <a:ext cx="35116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b="1" i="0">
                <a:solidFill>
                  <a:srgbClr val="713503"/>
                </a:solidFill>
                <a:latin typeface="IPix"/>
                <a:ea typeface="IPix"/>
                <a:cs typeface="IPix"/>
              </a:rPr>
              <a:t>金钱</a:t>
            </a:r>
            <a:endParaRPr b="1" i="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pPr algn="l">
              <a:buNone/>
            </a:pPr>
            <a:r>
              <a:rPr b="1" i="0">
                <a:solidFill>
                  <a:srgbClr val="713503"/>
                </a:solidFill>
                <a:latin typeface="IPix"/>
                <a:ea typeface="IPix"/>
                <a:cs typeface="IPix"/>
              </a:rPr>
              <a:t>购买地块、建设摊位、升级夜市，也是最终胜利指标。</a:t>
            </a:r>
            <a:endParaRPr b="1" i="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40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718" y="3429000"/>
            <a:ext cx="859458" cy="756792"/>
          </a:xfrm>
          <a:prstGeom prst="rect">
            <a:avLst/>
          </a:prstGeom>
        </p:spPr>
      </p:pic>
      <p:sp>
        <p:nvSpPr>
          <p:cNvPr id="11" name="文本框 10"/>
          <p:cNvSpPr>
            <a:spLocks noGrp="1"/>
          </p:cNvSpPr>
          <p:nvPr/>
        </p:nvSpPr>
        <p:spPr>
          <a:xfrm>
            <a:off x="2143845" y="3127327"/>
            <a:ext cx="37421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i="0">
                <a:solidFill>
                  <a:srgbClr val="713503"/>
                </a:solidFill>
                <a:latin typeface="IPix"/>
                <a:ea typeface="IPix"/>
                <a:cs typeface="IPix"/>
              </a:rPr>
              <a:t>食材</a:t>
            </a:r>
            <a:endParaRPr b="1" i="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分为低端与高端食材，夜晚营业会消耗，短缺会降低收益。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42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765" y="4868419"/>
            <a:ext cx="923330" cy="923330"/>
          </a:xfrm>
          <a:prstGeom prst="rect">
            <a:avLst/>
          </a:prstGeom>
        </p:spPr>
      </p:pic>
      <p:sp>
        <p:nvSpPr>
          <p:cNvPr id="15" name="文本框 14"/>
          <p:cNvSpPr>
            <a:spLocks noGrp="1"/>
          </p:cNvSpPr>
          <p:nvPr/>
        </p:nvSpPr>
        <p:spPr>
          <a:xfrm>
            <a:off x="2112002" y="4876102"/>
            <a:ext cx="37421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i="0">
                <a:solidFill>
                  <a:srgbClr val="713503"/>
                </a:solidFill>
                <a:latin typeface="IPix"/>
                <a:ea typeface="IPix"/>
                <a:cs typeface="IPix"/>
              </a:rPr>
              <a:t>体力</a:t>
            </a:r>
            <a:endParaRPr b="1" i="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限制每日行动，移动与事件都会影响体力状态。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44" name="图片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394" y="1878068"/>
            <a:ext cx="837151" cy="826036"/>
          </a:xfrm>
          <a:prstGeom prst="rect">
            <a:avLst/>
          </a:prstGeom>
        </p:spPr>
      </p:pic>
      <p:sp>
        <p:nvSpPr>
          <p:cNvPr id="19" name="文本框 18"/>
          <p:cNvSpPr>
            <a:spLocks noGrp="1"/>
          </p:cNvSpPr>
          <p:nvPr/>
        </p:nvSpPr>
        <p:spPr>
          <a:xfrm>
            <a:off x="7391776" y="1833939"/>
            <a:ext cx="40193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口碑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影响后期收益，高等级夜市可以获得口碑加成。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46" name="图片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4526" y="3287136"/>
            <a:ext cx="898656" cy="898656"/>
          </a:xfrm>
          <a:prstGeom prst="rect">
            <a:avLst/>
          </a:prstGeom>
        </p:spPr>
      </p:pic>
      <p:sp>
        <p:nvSpPr>
          <p:cNvPr id="23" name="文本框 22"/>
          <p:cNvSpPr>
            <a:spLocks noGrp="1"/>
          </p:cNvSpPr>
          <p:nvPr/>
        </p:nvSpPr>
        <p:spPr>
          <a:xfrm>
            <a:off x="7399460" y="3250948"/>
            <a:ext cx="37270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i="0">
                <a:solidFill>
                  <a:srgbClr val="713503"/>
                </a:solidFill>
                <a:latin typeface="IPix"/>
                <a:ea typeface="IPix"/>
                <a:cs typeface="IPix"/>
              </a:rPr>
              <a:t>天气</a:t>
            </a:r>
            <a:endParaRPr b="1" i="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每日随机刷新，改变客流倍率与收入倍率。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48" name="图片 2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9650" y="4855914"/>
            <a:ext cx="963706" cy="963706"/>
          </a:xfrm>
          <a:prstGeom prst="rect">
            <a:avLst/>
          </a:prstGeom>
        </p:spPr>
      </p:pic>
      <p:sp>
        <p:nvSpPr>
          <p:cNvPr id="27" name="文本框 26"/>
          <p:cNvSpPr>
            <a:spLocks noGrp="1"/>
          </p:cNvSpPr>
          <p:nvPr/>
        </p:nvSpPr>
        <p:spPr>
          <a:xfrm>
            <a:off x="7391776" y="4913062"/>
            <a:ext cx="41381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卫生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卫生低会提高检查风险，失败会罚款并停业。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4" name="内容占位符 8"/>
          <p:cNvPicPr>
            <a:picLocks noChangeAspect="1"/>
          </p:cNvPicPr>
          <p:nvPr>
            <p:ph idx="1"/>
          </p:nvPr>
        </p:nvPicPr>
        <p:blipFill rotWithShape="1">
          <a:blip r:embed="rId2"/>
          <a:srcRect l="4951" t="14705" r="59966" b="48246"/>
          <a:stretch>
            <a:fillRect/>
          </a:stretch>
        </p:blipFill>
        <p:spPr>
          <a:xfrm>
            <a:off x="150126" y="295687"/>
            <a:ext cx="3836541" cy="2815526"/>
          </a:xfrm>
        </p:spPr>
      </p:pic>
      <p:pic>
        <p:nvPicPr>
          <p:cNvPr id="25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963" y="967736"/>
            <a:ext cx="1577932" cy="1577932"/>
          </a:xfrm>
          <a:prstGeom prst="rect">
            <a:avLst/>
          </a:prstGeom>
        </p:spPr>
      </p:pic>
      <p:pic>
        <p:nvPicPr>
          <p:cNvPr id="26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105" y="2746477"/>
            <a:ext cx="1933648" cy="3567271"/>
          </a:xfrm>
          <a:prstGeom prst="rect">
            <a:avLst/>
          </a:prstGeom>
        </p:spPr>
      </p:pic>
      <p:pic>
        <p:nvPicPr>
          <p:cNvPr id="27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7823" y="777920"/>
            <a:ext cx="7731214" cy="5590420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1090080" y="2973754"/>
            <a:ext cx="188492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单局目标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最大天数：30 天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初始资金：3000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初始贷款：7000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胜利目标：100000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利息周期：7 天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利息率：10%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9" name="文本框 18"/>
          <p:cNvSpPr>
            <a:spLocks noGrp="1"/>
          </p:cNvSpPr>
          <p:nvPr/>
        </p:nvSpPr>
        <p:spPr>
          <a:xfrm>
            <a:off x="3638375" y="1277114"/>
            <a:ext cx="705241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i="0">
                <a:solidFill>
                  <a:srgbClr val="713503"/>
                </a:solidFill>
                <a:latin typeface="IPix"/>
                <a:ea typeface="IPix"/>
                <a:cs typeface="IPix"/>
              </a:rPr>
              <a:t>设计意图</a:t>
            </a:r>
            <a:endParaRPr sz="2400" i="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400" i="0">
                <a:solidFill>
                  <a:srgbClr val="713503"/>
                </a:solidFill>
                <a:latin typeface="IPix"/>
                <a:ea typeface="IPix"/>
                <a:cs typeface="IPix"/>
              </a:rPr>
              <a:t>玩家不是单纯“活到最后”，而是要在期限内把夜市做大。贷款提供前期启动资金，同时通过利息制造阶段性压力。</a:t>
            </a:r>
            <a:endParaRPr sz="2400" i="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18" name="内容占位符 8"/>
          <p:cNvPicPr>
            <a:picLocks noChangeAspect="1"/>
          </p:cNvPicPr>
          <p:nvPr/>
        </p:nvPicPr>
        <p:blipFill rotWithShape="1">
          <a:blip r:embed="rId2"/>
          <a:srcRect l="4951" t="14705" r="59966" b="48246"/>
          <a:stretch>
            <a:fillRect/>
          </a:stretch>
        </p:blipFill>
        <p:spPr>
          <a:xfrm>
            <a:off x="150126" y="295687"/>
            <a:ext cx="3836541" cy="2815526"/>
          </a:xfrm>
          <a:prstGeom prst="rect">
            <a:avLst/>
          </a:prstGeom>
        </p:spPr>
      </p:pic>
      <p:pic>
        <p:nvPicPr>
          <p:cNvPr id="19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105" y="2746477"/>
            <a:ext cx="1933648" cy="3567271"/>
          </a:xfrm>
          <a:prstGeom prst="rect">
            <a:avLst/>
          </a:prstGeom>
        </p:spPr>
      </p:pic>
      <p:pic>
        <p:nvPicPr>
          <p:cNvPr id="20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7823" y="777920"/>
            <a:ext cx="7731214" cy="5590420"/>
          </a:xfrm>
          <a:prstGeom prst="rect">
            <a:avLst/>
          </a:prstGeom>
        </p:spPr>
      </p:pic>
      <p:pic>
        <p:nvPicPr>
          <p:cNvPr id="21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7086" y="1066789"/>
            <a:ext cx="1505496" cy="1505496"/>
          </a:xfrm>
          <a:prstGeom prst="rect">
            <a:avLst/>
          </a:prstGeom>
        </p:spPr>
      </p:pic>
      <p:sp>
        <p:nvSpPr>
          <p:cNvPr id="11" name="文本框 10"/>
          <p:cNvSpPr>
            <a:spLocks noGrp="1"/>
          </p:cNvSpPr>
          <p:nvPr/>
        </p:nvSpPr>
        <p:spPr>
          <a:xfrm>
            <a:off x="1004123" y="2823920"/>
            <a:ext cx="2184646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713503"/>
                </a:solidFill>
                <a:latin typeface="IPix"/>
                <a:ea typeface="IPix"/>
                <a:cs typeface="IPix"/>
              </a:rPr>
              <a:t>地图规划</a:t>
            </a:r>
            <a:endParaRPr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>
                <a:solidFill>
                  <a:srgbClr val="713503"/>
                </a:solidFill>
                <a:latin typeface="IPix"/>
                <a:ea typeface="IPix"/>
                <a:cs typeface="IPix"/>
              </a:rPr>
              <a:t>测试地图共 36 个地块，起点为 T01。地块包含起点、可购买地块、资源地块、事件地块和特殊地块。</a:t>
            </a:r>
            <a:endParaRPr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3986667" y="1274796"/>
            <a:ext cx="609742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713503"/>
                </a:solidFill>
                <a:latin typeface="IPix"/>
                <a:ea typeface="IPix"/>
                <a:cs typeface="IPix"/>
              </a:rPr>
              <a:t>移动规则</a:t>
            </a:r>
            <a:endParaRPr sz="24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400">
                <a:solidFill>
                  <a:srgbClr val="713503"/>
                </a:solidFill>
                <a:latin typeface="IPix"/>
                <a:ea typeface="IPix"/>
                <a:cs typeface="IPix"/>
              </a:rPr>
              <a:t>玩家每日掷骰，根据点数、邻接关系和体力选择可到达目标。到达后显示地块信息，并进入交互阶段。</a:t>
            </a:r>
            <a:endParaRPr sz="24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0" name="内容占位符 8"/>
          <p:cNvPicPr>
            <a:picLocks noChangeAspect="1"/>
          </p:cNvPicPr>
          <p:nvPr/>
        </p:nvPicPr>
        <p:blipFill rotWithShape="1">
          <a:blip r:embed="rId2"/>
          <a:srcRect l="4951" t="14705" r="59966" b="48246"/>
          <a:stretch>
            <a:fillRect/>
          </a:stretch>
        </p:blipFill>
        <p:spPr>
          <a:xfrm>
            <a:off x="150126" y="295687"/>
            <a:ext cx="3836541" cy="2815526"/>
          </a:xfrm>
          <a:prstGeom prst="rect">
            <a:avLst/>
          </a:prstGeom>
        </p:spPr>
      </p:pic>
      <p:pic>
        <p:nvPicPr>
          <p:cNvPr id="21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105" y="2746477"/>
            <a:ext cx="1933648" cy="3567271"/>
          </a:xfrm>
          <a:prstGeom prst="rect">
            <a:avLst/>
          </a:prstGeom>
        </p:spPr>
      </p:pic>
      <p:pic>
        <p:nvPicPr>
          <p:cNvPr id="22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7823" y="777920"/>
            <a:ext cx="7731214" cy="5590420"/>
          </a:xfrm>
          <a:prstGeom prst="rect">
            <a:avLst/>
          </a:prstGeom>
        </p:spPr>
      </p:pic>
      <p:pic>
        <p:nvPicPr>
          <p:cNvPr id="23" name="图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5698" y="1089660"/>
            <a:ext cx="1464244" cy="1464244"/>
          </a:xfrm>
          <a:prstGeom prst="rect">
            <a:avLst/>
          </a:prstGeom>
        </p:spPr>
      </p:pic>
      <p:sp>
        <p:nvSpPr>
          <p:cNvPr id="12" name="文本框 11"/>
          <p:cNvSpPr>
            <a:spLocks noGrp="1"/>
          </p:cNvSpPr>
          <p:nvPr/>
        </p:nvSpPr>
        <p:spPr>
          <a:xfrm>
            <a:off x="1091781" y="2984416"/>
            <a:ext cx="193364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夜市经营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玩家可在可购买地块创建夜市。夜市拥有等级、最大摊位数、总吸引力、总卫生值和停业回合数。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5" name="文本框 14"/>
          <p:cNvSpPr>
            <a:spLocks noGrp="1"/>
          </p:cNvSpPr>
          <p:nvPr/>
        </p:nvSpPr>
        <p:spPr>
          <a:xfrm>
            <a:off x="3988753" y="1376419"/>
            <a:ext cx="60974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713503"/>
                </a:solidFill>
                <a:latin typeface="IPix"/>
                <a:ea typeface="IPix"/>
                <a:cs typeface="IPix"/>
              </a:rPr>
              <a:t>成长路径</a:t>
            </a:r>
            <a:endParaRPr sz="2400" b="0" i="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400" b="0" i="0">
                <a:solidFill>
                  <a:srgbClr val="713503"/>
                </a:solidFill>
                <a:latin typeface="IPix"/>
                <a:ea typeface="IPix"/>
                <a:cs typeface="IPix"/>
              </a:rPr>
              <a:t>1级基础夜市 → 2级扩大摊位容量 → 3级解锁更高阶摊位 → 4级获得口碑加成。</a:t>
            </a:r>
            <a:endParaRPr sz="2400" b="0" i="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16" name="内容占位符 8"/>
          <p:cNvPicPr>
            <a:picLocks noChangeAspect="1"/>
          </p:cNvPicPr>
          <p:nvPr/>
        </p:nvPicPr>
        <p:blipFill rotWithShape="1">
          <a:blip r:embed="rId2"/>
          <a:srcRect l="4951" t="14705" r="59966" b="48246"/>
          <a:stretch>
            <a:fillRect/>
          </a:stretch>
        </p:blipFill>
        <p:spPr>
          <a:xfrm>
            <a:off x="150126" y="295687"/>
            <a:ext cx="3836541" cy="2815526"/>
          </a:xfrm>
          <a:prstGeom prst="rect">
            <a:avLst/>
          </a:prstGeom>
        </p:spPr>
      </p:pic>
      <p:pic>
        <p:nvPicPr>
          <p:cNvPr id="17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105" y="2746477"/>
            <a:ext cx="1933648" cy="3567271"/>
          </a:xfrm>
          <a:prstGeom prst="rect">
            <a:avLst/>
          </a:prstGeom>
        </p:spPr>
      </p:pic>
      <p:pic>
        <p:nvPicPr>
          <p:cNvPr id="18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7823" y="777920"/>
            <a:ext cx="7731214" cy="5590420"/>
          </a:xfrm>
          <a:prstGeom prst="rect">
            <a:avLst/>
          </a:prstGeom>
        </p:spPr>
      </p:pic>
      <p:pic>
        <p:nvPicPr>
          <p:cNvPr id="19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7143" y="1093850"/>
            <a:ext cx="1464779" cy="1464779"/>
          </a:xfrm>
          <a:prstGeom prst="rect">
            <a:avLst/>
          </a:prstGeom>
        </p:spPr>
      </p:pic>
      <p:sp>
        <p:nvSpPr>
          <p:cNvPr id="9" name="文本框 8"/>
          <p:cNvSpPr>
            <a:spLocks noGrp="1"/>
          </p:cNvSpPr>
          <p:nvPr/>
        </p:nvSpPr>
        <p:spPr>
          <a:xfrm>
            <a:off x="1130502" y="3094121"/>
            <a:ext cx="609742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摊位系统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摊位配置包含建设成本、升级成本、基础客单价、吸引力、食材消耗、卫生值和客群偏好。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endParaRPr sz="2000"/>
          </a:p>
          <a:p>
            <a:r>
              <a:rPr sz="2000">
                <a:solidFill>
                  <a:srgbClr val="713503"/>
                </a:solidFill>
                <a:latin typeface="IPix"/>
                <a:ea typeface="IPix"/>
                <a:cs typeface="IPix"/>
              </a:rPr>
              <a:t>代表摊位：炒饭、烧烤、热干面、咖啡、轻食、炸串等。</a:t>
            </a:r>
            <a:endParaRPr sz="20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4057117" y="1249999"/>
            <a:ext cx="60974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713503"/>
                </a:solidFill>
                <a:latin typeface="IPix"/>
                <a:ea typeface="IPix"/>
                <a:cs typeface="IPix"/>
              </a:rPr>
              <a:t>收益逻辑</a:t>
            </a:r>
            <a:endParaRPr sz="2400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2400">
                <a:solidFill>
                  <a:srgbClr val="713503"/>
                </a:solidFill>
                <a:latin typeface="IPix"/>
                <a:ea typeface="IPix"/>
                <a:cs typeface="IPix"/>
              </a:rPr>
              <a:t>夜晚收益由基础客流、摊位吸引力、地块消费力、客群偏好、天气倍率、食材供给和口碑加成共同决定。</a:t>
            </a:r>
            <a:endParaRPr sz="2400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467428" y="1240971"/>
            <a:ext cx="81642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PART THREE</a:t>
            </a:r>
            <a:endParaRPr sz="72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3048640" y="3246255"/>
            <a:ext cx="6097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800">
                <a:solidFill>
                  <a:srgbClr val="754514"/>
                </a:solidFill>
                <a:latin typeface="IPix"/>
                <a:ea typeface="IPix"/>
                <a:cs typeface="IPix"/>
              </a:rPr>
              <a:t>游戏系统设计</a:t>
            </a:r>
            <a:endParaRPr sz="4800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727281" y="4274495"/>
            <a:ext cx="55395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>
                <a:solidFill>
                  <a:srgbClr val="754514"/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汇报人：牛楚源</a:t>
            </a:r>
            <a:endParaRPr lang="en-US" altLang="zh-CN" sz="2800" dirty="0">
              <a:solidFill>
                <a:srgbClr val="754514"/>
              </a:solidFill>
              <a:latin typeface="IPix" panose="02000503000000000000" pitchFamily="2" charset="-120"/>
              <a:ea typeface="IPix" panose="02000503000000000000" pitchFamily="2" charset="-120"/>
            </a:endParaRPr>
          </a:p>
          <a:p>
            <a:pPr algn="ctr"/>
            <a:r>
              <a:rPr lang="zh-CN" altLang="en-US" sz="2800" dirty="0">
                <a:solidFill>
                  <a:srgbClr val="754514"/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          邵星岩</a:t>
            </a:r>
            <a:endParaRPr lang="en-US" altLang="zh-CN" sz="2800" dirty="0">
              <a:solidFill>
                <a:srgbClr val="754514"/>
              </a:solidFill>
              <a:latin typeface="IPix" panose="02000503000000000000" pitchFamily="2" charset="-120"/>
              <a:ea typeface="IPix" panose="02000503000000000000" pitchFamily="2" charset="-120"/>
            </a:endParaRPr>
          </a:p>
          <a:p>
            <a:pPr algn="ctr"/>
            <a:r>
              <a:rPr lang="en-US" altLang="zh-CN" sz="2800" dirty="0">
                <a:solidFill>
                  <a:srgbClr val="754514"/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          </a:t>
            </a:r>
            <a:r>
              <a:rPr lang="zh-CN" altLang="en-US" sz="2800" dirty="0">
                <a:solidFill>
                  <a:srgbClr val="754514"/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文智强</a:t>
            </a:r>
            <a:endParaRPr lang="zh-CN" altLang="en-US" sz="4800" dirty="0">
              <a:solidFill>
                <a:srgbClr val="754514"/>
              </a:solidFill>
              <a:latin typeface="IPix" panose="02000503000000000000" pitchFamily="2" charset="-120"/>
              <a:ea typeface="IPix" panose="02000503000000000000" pitchFamily="2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8" name="矩形 7"/>
          <p:cNvSpPr>
            <a:spLocks noGrp="1"/>
          </p:cNvSpPr>
          <p:nvPr/>
        </p:nvSpPr>
        <p:spPr>
          <a:xfrm>
            <a:off x="718869" y="408316"/>
            <a:ext cx="10576704" cy="6124815"/>
          </a:xfrm>
          <a:prstGeom prst="rect">
            <a:avLst/>
          </a:prstGeom>
          <a:solidFill>
            <a:schemeClr val="bg1">
              <a:alpha val="59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cxnSp>
        <p:nvCxnSpPr>
          <p:cNvPr id="20" name="直接连接符 9"/>
          <p:cNvCxnSpPr>
            <a:stCxn id="8" idx="1"/>
            <a:endCxn id="8" idx="3"/>
          </p:cNvCxnSpPr>
          <p:nvPr/>
        </p:nvCxnSpPr>
        <p:spPr>
          <a:xfrm>
            <a:off x="718869" y="3470724"/>
            <a:ext cx="10576704" cy="0"/>
          </a:xfrm>
          <a:prstGeom prst="line">
            <a:avLst/>
          </a:prstGeom>
          <a:ln w="31750">
            <a:solidFill>
              <a:srgbClr val="BDEEF9"/>
            </a:solidFill>
            <a:prstDash val="lgDash"/>
          </a:ln>
          <a:effectLst>
            <a:outerShdw blurRad="88900" dist="50800" dir="5400000" algn="ctr" rotWithShape="0">
              <a:schemeClr val="bg2">
                <a:lumMod val="75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>
            <a:spLocks noGrp="1"/>
          </p:cNvSpPr>
          <p:nvPr/>
        </p:nvSpPr>
        <p:spPr>
          <a:xfrm>
            <a:off x="852577" y="578666"/>
            <a:ext cx="10159040" cy="2702318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96427" y="3739823"/>
            <a:ext cx="10159040" cy="2702318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951780" y="3971010"/>
            <a:ext cx="996063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核心循环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每日开始 → 刷新天气/事件 → 掷骰 → 选择地块 → 移动 → 地块交互 → 进入黑夜 → 夜晚结算 → 检查/利息 → 下一天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1015041" y="702372"/>
            <a:ext cx="996063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阶段控制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游戏阶段包括 Init、DayStart、RollDice、ChooseMove、MovePlayer、TileInteraction、NightSettlement、DayEnd、GameWin、GameLose。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25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6461816">
            <a:off x="-152170" y="-542213"/>
            <a:ext cx="1164222" cy="2006937"/>
          </a:xfrm>
          <a:prstGeom prst="rect">
            <a:avLst/>
          </a:prstGeom>
        </p:spPr>
      </p:pic>
      <p:pic>
        <p:nvPicPr>
          <p:cNvPr id="26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056126">
            <a:off x="11077446" y="5065141"/>
            <a:ext cx="1211653" cy="2180975"/>
          </a:xfrm>
          <a:prstGeom prst="rect">
            <a:avLst/>
          </a:prstGeom>
        </p:spPr>
      </p:pic>
      <p:pic>
        <p:nvPicPr>
          <p:cNvPr id="27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733161">
            <a:off x="-31073" y="5439407"/>
            <a:ext cx="1067878" cy="1922180"/>
          </a:xfrm>
          <a:prstGeom prst="rect">
            <a:avLst/>
          </a:prstGeom>
        </p:spPr>
      </p:pic>
      <p:pic>
        <p:nvPicPr>
          <p:cNvPr id="28" name="图片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4157478">
            <a:off x="11302400" y="-703219"/>
            <a:ext cx="1240408" cy="18911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18869" y="408316"/>
            <a:ext cx="10576704" cy="6124815"/>
          </a:xfrm>
          <a:prstGeom prst="rect">
            <a:avLst/>
          </a:prstGeom>
          <a:solidFill>
            <a:schemeClr val="bg1">
              <a:alpha val="59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15" name="图片 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455504" y="1585291"/>
            <a:ext cx="5454375" cy="4462670"/>
          </a:xfrm>
          <a:prstGeom prst="rect">
            <a:avLst/>
          </a:prstGeom>
        </p:spPr>
      </p:pic>
      <p:sp>
        <p:nvSpPr>
          <p:cNvPr id="7" name="矩形: 圆角 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038047" y="794067"/>
            <a:ext cx="2304283" cy="603413"/>
          </a:xfrm>
          <a:prstGeom prst="roundRect">
            <a:avLst/>
          </a:prstGeom>
          <a:solidFill>
            <a:schemeClr val="accent6"/>
          </a:solidFill>
          <a:ln w="25400">
            <a:solidFill>
              <a:srgbClr val="71350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地块系统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71269" y="1599388"/>
            <a:ext cx="2763327" cy="4554059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9" name="矩形: 圆角 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8459639" y="794067"/>
            <a:ext cx="2304283" cy="603413"/>
          </a:xfrm>
          <a:prstGeom prst="roundRect">
            <a:avLst/>
          </a:prstGeom>
          <a:solidFill>
            <a:schemeClr val="accent6"/>
          </a:solidFill>
          <a:ln w="25400">
            <a:solidFill>
              <a:srgbClr val="71350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地图系统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292861" y="1599388"/>
            <a:ext cx="2763327" cy="4554059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1" name="文本框 10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015041" y="1616776"/>
            <a:ext cx="2619555" cy="4246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负责管理单个地块的静态配置、局内状态和玩家落地后的交互流程。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TileConfig 配置地块 ID、类型、邻接、购买价格、基础客流、消费能力、客群比例、检查概率和事件池。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玩家到达地块后，右侧信息栏常驻显示当前所在地块信息。</a:t>
            </a:r>
            <a:endParaRPr lang="en-US" altLang="zh-CN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地块交互行为由地块类型和运行状态决定。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掷骰时自动结束未完成的地块交互。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2" name="文本框 1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8412795" y="1643229"/>
            <a:ext cx="2619555" cy="2030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负责加载地图配置、维护地块连接关系、查询地块、计算玩家可达范围并生成移动路径。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地图使用邻接表表示，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使用广度优先搜索取得最短路径。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18869" y="408316"/>
            <a:ext cx="10576704" cy="6124815"/>
          </a:xfrm>
          <a:prstGeom prst="rect">
            <a:avLst/>
          </a:prstGeom>
          <a:solidFill>
            <a:schemeClr val="bg1">
              <a:alpha val="59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15" name="图片 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455504" y="1585291"/>
            <a:ext cx="5454375" cy="4462670"/>
          </a:xfrm>
          <a:prstGeom prst="rect">
            <a:avLst/>
          </a:prstGeom>
        </p:spPr>
      </p:pic>
      <p:sp>
        <p:nvSpPr>
          <p:cNvPr id="7" name="矩形: 圆角 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038047" y="794067"/>
            <a:ext cx="2304283" cy="603413"/>
          </a:xfrm>
          <a:prstGeom prst="roundRect">
            <a:avLst/>
          </a:prstGeom>
          <a:solidFill>
            <a:schemeClr val="accent6"/>
          </a:solidFill>
          <a:ln w="25400">
            <a:solidFill>
              <a:srgbClr val="71350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地块系统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71269" y="1599388"/>
            <a:ext cx="2763327" cy="4554059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9" name="矩形: 圆角 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8459639" y="794067"/>
            <a:ext cx="2304283" cy="603413"/>
          </a:xfrm>
          <a:prstGeom prst="roundRect">
            <a:avLst/>
          </a:prstGeom>
          <a:solidFill>
            <a:schemeClr val="accent6"/>
          </a:solidFill>
          <a:ln w="25400">
            <a:solidFill>
              <a:srgbClr val="71350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地图系统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292861" y="1599388"/>
            <a:ext cx="2763327" cy="4554059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1" name="文本框 10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015041" y="1616776"/>
            <a:ext cx="2619555" cy="4246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负责管理单个地块的静态配置、局内状态和玩家落地后的交互流程。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TileConfig 配置地块 ID、类型、邻接、购买价格、基础客流、消费能力、客群比例、检查概率和事件池。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玩家到达地块后，右侧信息栏常驻显示当前所在地块信息。</a:t>
            </a:r>
            <a:endParaRPr lang="en-US" altLang="zh-CN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地块交互行为由地块类型和运行状态决定。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掷骰时自动结束未完成的地块交互。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2" name="文本框 1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8412795" y="1643229"/>
            <a:ext cx="2619555" cy="2030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负责加载地图配置、维护地块连接关系、查询地块、计算玩家可达范围并生成移动路径。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地图使用邻接表表示，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lang="zh-CN" altLang="en-US" b="1">
                <a:solidFill>
                  <a:srgbClr val="713503"/>
                </a:solidFill>
                <a:latin typeface="IPix"/>
                <a:ea typeface="IPix"/>
                <a:cs typeface="IPix"/>
              </a:rPr>
              <a:t>使用广度优先搜索取得最短路径。</a:t>
            </a:r>
            <a:endParaRPr lang="zh-CN" altLang="en-US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矩形 3"/>
          <p:cNvSpPr>
            <a:spLocks noGrp="1"/>
          </p:cNvSpPr>
          <p:nvPr/>
        </p:nvSpPr>
        <p:spPr>
          <a:xfrm>
            <a:off x="718869" y="408316"/>
            <a:ext cx="10576704" cy="6124815"/>
          </a:xfrm>
          <a:prstGeom prst="rect">
            <a:avLst/>
          </a:prstGeom>
          <a:solidFill>
            <a:schemeClr val="bg1">
              <a:alpha val="59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37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384" y="513331"/>
            <a:ext cx="1852178" cy="2033042"/>
          </a:xfrm>
          <a:ln w="44450">
            <a:solidFill>
              <a:schemeClr val="bg1"/>
            </a:solidFill>
            <a:prstDash val="lgDash"/>
          </a:ln>
        </p:spPr>
      </p:pic>
      <p:pic>
        <p:nvPicPr>
          <p:cNvPr id="38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017" y="629003"/>
            <a:ext cx="2045240" cy="2033042"/>
          </a:xfrm>
          <a:ln w="44450">
            <a:solidFill>
              <a:schemeClr val="bg1"/>
            </a:solidFill>
            <a:prstDash val="lgDash"/>
          </a:ln>
        </p:spPr>
      </p:pic>
      <p:pic>
        <p:nvPicPr>
          <p:cNvPr id="39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8076" y="698703"/>
            <a:ext cx="3324625" cy="1893642"/>
          </a:xfrm>
          <a:ln w="44450">
            <a:solidFill>
              <a:schemeClr val="bg1"/>
            </a:solidFill>
            <a:prstDash val="lgDash"/>
          </a:ln>
        </p:spPr>
      </p:pic>
      <p:pic>
        <p:nvPicPr>
          <p:cNvPr id="40" name="图片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6410" y="5379517"/>
            <a:ext cx="2678410" cy="1478483"/>
          </a:xfrm>
          <a:prstGeom prst="rect">
            <a:avLst/>
          </a:prstGeom>
        </p:spPr>
      </p:pic>
      <p:sp>
        <p:nvSpPr>
          <p:cNvPr id="29" name="文本框 28"/>
          <p:cNvSpPr>
            <a:spLocks noGrp="1"/>
          </p:cNvSpPr>
          <p:nvPr/>
        </p:nvSpPr>
        <p:spPr>
          <a:xfrm>
            <a:off x="899781" y="2623380"/>
            <a:ext cx="297297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chemeClr val="bg1"/>
                </a:solidFill>
                <a:latin typeface="IPix"/>
                <a:ea typeface="IPix"/>
                <a:cs typeface="IPix"/>
              </a:rPr>
              <a:t>经济系统</a:t>
            </a:r>
            <a:endParaRPr b="1">
              <a:solidFill>
                <a:schemeClr val="bg1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chemeClr val="bg1"/>
                </a:solidFill>
                <a:latin typeface="IPix"/>
                <a:ea typeface="IPix"/>
                <a:cs typeface="IPix"/>
              </a:rPr>
              <a:t>夜晚结算会遍历玩家拥有的夜市，按地块客流和摊位吸引力分配顾客，再叠加天气、消费力、食材和口碑计算收入。</a:t>
            </a:r>
            <a:endParaRPr b="1">
              <a:solidFill>
                <a:schemeClr val="bg1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30" name="文本框 29"/>
          <p:cNvSpPr>
            <a:spLocks noGrp="1"/>
          </p:cNvSpPr>
          <p:nvPr/>
        </p:nvSpPr>
        <p:spPr>
          <a:xfrm>
            <a:off x="4025889" y="2637468"/>
            <a:ext cx="297297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chemeClr val="bg1"/>
                </a:solidFill>
                <a:latin typeface="IPix"/>
                <a:ea typeface="IPix"/>
                <a:cs typeface="IPix"/>
              </a:rPr>
              <a:t>随机系统</a:t>
            </a:r>
            <a:endParaRPr b="1">
              <a:solidFill>
                <a:schemeClr val="bg1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chemeClr val="bg1"/>
                </a:solidFill>
                <a:latin typeface="IPix"/>
                <a:ea typeface="IPix"/>
                <a:cs typeface="IPix"/>
              </a:rPr>
              <a:t>天气改变客流与收入；事件会增减金钱、食材、体力、口碑或触发检查；卫生检查会根据卫生值决定罚款与停业风险。</a:t>
            </a:r>
            <a:endParaRPr b="1">
              <a:solidFill>
                <a:schemeClr val="bg1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31" name="文本框 30"/>
          <p:cNvSpPr>
            <a:spLocks noGrp="1"/>
          </p:cNvSpPr>
          <p:nvPr/>
        </p:nvSpPr>
        <p:spPr>
          <a:xfrm>
            <a:off x="7835873" y="2659240"/>
            <a:ext cx="297297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chemeClr val="bg1"/>
                </a:solidFill>
                <a:latin typeface="IPix"/>
                <a:ea typeface="IPix"/>
                <a:cs typeface="IPix"/>
              </a:rPr>
              <a:t>胜负系统</a:t>
            </a:r>
            <a:endParaRPr b="1">
              <a:solidFill>
                <a:schemeClr val="bg1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chemeClr val="bg1"/>
                </a:solidFill>
                <a:latin typeface="IPix"/>
                <a:ea typeface="IPix"/>
                <a:cs typeface="IPix"/>
              </a:rPr>
              <a:t>第 30 天结束时检查资金是否达到 100000。达成则进入胜利提示与无尽模式，未达成则失败。</a:t>
            </a:r>
            <a:endParaRPr b="1">
              <a:solidFill>
                <a:schemeClr val="bg1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7714" y="1284513"/>
            <a:ext cx="6734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754514"/>
                </a:solidFill>
                <a:latin typeface="IPix"/>
                <a:ea typeface="IPix"/>
                <a:cs typeface="IPix"/>
              </a:rPr>
              <a:t>PART FOUR</a:t>
            </a:r>
            <a:endParaRPr sz="7200" b="1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2" name="文本框 1"/>
          <p:cNvSpPr>
            <a:spLocks noGrp="1"/>
          </p:cNvSpPr>
          <p:nvPr/>
        </p:nvSpPr>
        <p:spPr>
          <a:xfrm>
            <a:off x="3048640" y="3246255"/>
            <a:ext cx="6097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800">
                <a:solidFill>
                  <a:srgbClr val="754514"/>
                </a:solidFill>
                <a:latin typeface="IPix"/>
                <a:ea typeface="IPix"/>
                <a:cs typeface="IPix"/>
              </a:rPr>
              <a:t>UI与美术呈现</a:t>
            </a:r>
            <a:endParaRPr sz="4800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727281" y="4274495"/>
            <a:ext cx="55395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>
                <a:solidFill>
                  <a:srgbClr val="754514"/>
                </a:solidFill>
                <a:latin typeface="IPix" panose="02000503000000000000" pitchFamily="2" charset="-120"/>
                <a:ea typeface="IPix" panose="02000503000000000000" pitchFamily="2" charset="-120"/>
              </a:rPr>
              <a:t>汇报人：黄恒聪</a:t>
            </a:r>
            <a:endParaRPr lang="en-US" altLang="zh-CN" sz="2800" dirty="0">
              <a:solidFill>
                <a:srgbClr val="754514"/>
              </a:solidFill>
              <a:latin typeface="IPix" panose="02000503000000000000" pitchFamily="2" charset="-120"/>
              <a:ea typeface="IPix" panose="02000503000000000000" pitchFamily="2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文本框 9"/>
          <p:cNvSpPr>
            <a:spLocks noGrp="1"/>
          </p:cNvSpPr>
          <p:nvPr/>
        </p:nvSpPr>
        <p:spPr>
          <a:xfrm>
            <a:off x="1975545" y="1862665"/>
            <a:ext cx="377979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界面结构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游戏 UI 分为顶部状态栏、左侧行动按钮、右侧地块信息栏、消息栏、夜市面板、菜单弹窗和结算弹窗。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6500159" y="1869068"/>
            <a:ext cx="377979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信息反馈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b="1">
                <a:solidFill>
                  <a:srgbClr val="713503"/>
                </a:solidFill>
                <a:latin typeface="IPix"/>
                <a:ea typeface="IPix"/>
                <a:cs typeface="IPix"/>
              </a:rPr>
              <a:t>右侧信息栏常驻显示当前所在地块的类型、名称和购买价格；消息栏显示事件、结算、操作失败原因和阶段变化。</a:t>
            </a:r>
            <a:endParaRPr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矩形 3"/>
          <p:cNvSpPr>
            <a:spLocks noGrp="1"/>
          </p:cNvSpPr>
          <p:nvPr/>
        </p:nvSpPr>
        <p:spPr>
          <a:xfrm>
            <a:off x="442244" y="439052"/>
            <a:ext cx="10576704" cy="6124815"/>
          </a:xfrm>
          <a:prstGeom prst="rect">
            <a:avLst/>
          </a:prstGeom>
          <a:solidFill>
            <a:schemeClr val="bg1">
              <a:alpha val="59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40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09" y="606217"/>
            <a:ext cx="1933648" cy="5621435"/>
          </a:xfrm>
          <a:prstGeom prst="rect">
            <a:avLst/>
          </a:prstGeom>
        </p:spPr>
      </p:pic>
      <p:pic>
        <p:nvPicPr>
          <p:cNvPr id="41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9280" y="-109490"/>
            <a:ext cx="2228573" cy="2253334"/>
          </a:xfrm>
          <a:prstGeom prst="rect">
            <a:avLst/>
          </a:prstGeom>
        </p:spPr>
      </p:pic>
      <p:pic>
        <p:nvPicPr>
          <p:cNvPr id="4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23" y="618000"/>
            <a:ext cx="1933648" cy="5621435"/>
          </a:xfrm>
          <a:prstGeom prst="rect">
            <a:avLst/>
          </a:prstGeom>
        </p:spPr>
      </p:pic>
      <p:pic>
        <p:nvPicPr>
          <p:cNvPr id="43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52" y="799300"/>
            <a:ext cx="1132754" cy="940975"/>
          </a:xfrm>
          <a:prstGeom prst="rect">
            <a:avLst/>
          </a:prstGeom>
        </p:spPr>
      </p:pic>
      <p:pic>
        <p:nvPicPr>
          <p:cNvPr id="44" name="图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695" y="618000"/>
            <a:ext cx="1933648" cy="5621435"/>
          </a:xfrm>
          <a:prstGeom prst="rect">
            <a:avLst/>
          </a:prstGeom>
        </p:spPr>
      </p:pic>
      <p:pic>
        <p:nvPicPr>
          <p:cNvPr id="45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351" y="608386"/>
            <a:ext cx="1933648" cy="5621435"/>
          </a:xfrm>
          <a:prstGeom prst="rect">
            <a:avLst/>
          </a:prstGeom>
        </p:spPr>
      </p:pic>
      <p:pic>
        <p:nvPicPr>
          <p:cNvPr id="46" name="图片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0572" y="822352"/>
            <a:ext cx="948338" cy="940975"/>
          </a:xfrm>
          <a:prstGeom prst="rect">
            <a:avLst/>
          </a:prstGeom>
        </p:spPr>
      </p:pic>
      <p:pic>
        <p:nvPicPr>
          <p:cNvPr id="47" name="图片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1779" y="745833"/>
            <a:ext cx="1017494" cy="1017494"/>
          </a:xfrm>
          <a:prstGeom prst="rect">
            <a:avLst/>
          </a:prstGeom>
        </p:spPr>
      </p:pic>
      <p:pic>
        <p:nvPicPr>
          <p:cNvPr id="48" name="图片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3417" y="606217"/>
            <a:ext cx="1190543" cy="1190543"/>
          </a:xfrm>
          <a:prstGeom prst="rect">
            <a:avLst/>
          </a:prstGeom>
        </p:spPr>
      </p:pic>
      <p:sp>
        <p:nvSpPr>
          <p:cNvPr id="26" name="文本框 25"/>
          <p:cNvSpPr>
            <a:spLocks noGrp="1"/>
          </p:cNvSpPr>
          <p:nvPr/>
        </p:nvSpPr>
        <p:spPr>
          <a:xfrm>
            <a:off x="1015042" y="2016344"/>
            <a:ext cx="1598944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主菜单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提供新游戏与退出游戏，当前新游戏直接进入 S02 游戏场景。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27" name="文本框 26"/>
          <p:cNvSpPr>
            <a:spLocks noGrp="1"/>
          </p:cNvSpPr>
          <p:nvPr/>
        </p:nvSpPr>
        <p:spPr>
          <a:xfrm>
            <a:off x="3473689" y="1969526"/>
            <a:ext cx="1598944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地图表现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地块以棋盘方式组织，玩家通过高亮地块选择移动目标。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28" name="文本框 27"/>
          <p:cNvSpPr>
            <a:spLocks noGrp="1"/>
          </p:cNvSpPr>
          <p:nvPr/>
        </p:nvSpPr>
        <p:spPr>
          <a:xfrm>
            <a:off x="6048345" y="1977922"/>
            <a:ext cx="1598944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夜市面板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支持购买夜市、升级夜市、查看摊位数量、建设和升级摊位。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  <p:sp>
        <p:nvSpPr>
          <p:cNvPr id="29" name="文本框 28"/>
          <p:cNvSpPr>
            <a:spLocks noGrp="1"/>
          </p:cNvSpPr>
          <p:nvPr/>
        </p:nvSpPr>
        <p:spPr>
          <a:xfrm>
            <a:off x="8571098" y="1939500"/>
            <a:ext cx="1598944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结算反馈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  <a:p>
            <a:r>
              <a:rPr sz="1400" b="1">
                <a:solidFill>
                  <a:srgbClr val="713503"/>
                </a:solidFill>
                <a:latin typeface="IPix"/>
                <a:ea typeface="IPix"/>
                <a:cs typeface="IPix"/>
              </a:rPr>
              <a:t>进入黑夜后展示当晚经营结果，并推进到下一天。</a:t>
            </a:r>
            <a:endParaRPr sz="1400" b="1">
              <a:solidFill>
                <a:srgbClr val="713503"/>
              </a:solidFill>
              <a:latin typeface="IPix"/>
              <a:ea typeface="IPix"/>
              <a:cs typeface="IPix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18" name="内容占位符 11"/>
          <p:cNvPicPr>
            <a:picLocks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4238" y="806824"/>
            <a:ext cx="10373343" cy="5939758"/>
          </a:xfrm>
          <a:prstGeom prst="rect">
            <a:avLst/>
          </a:prstGeom>
        </p:spPr>
      </p:pic>
      <p:sp>
        <p:nvSpPr>
          <p:cNvPr id="15" name="文本框 14"/>
          <p:cNvSpPr>
            <a:spLocks noGrp="1"/>
          </p:cNvSpPr>
          <p:nvPr/>
        </p:nvSpPr>
        <p:spPr>
          <a:xfrm>
            <a:off x="1533285" y="1675120"/>
            <a:ext cx="842522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chemeClr val="tx1">
                    <a:lumMod val="85000"/>
                    <a:lumOff val="15000"/>
                  </a:schemeClr>
                </a:solidFill>
                <a:latin typeface="IPix"/>
                <a:ea typeface="IPix"/>
                <a:cs typeface="IPix"/>
              </a:rPr>
              <a:t>当前完成度</a:t>
            </a:r>
            <a:endParaRPr sz="2400">
              <a:solidFill>
                <a:schemeClr val="tx1">
                  <a:lumMod val="85000"/>
                  <a:lumOff val="15000"/>
                </a:schemeClr>
              </a:solidFill>
              <a:latin typeface="IPix"/>
              <a:ea typeface="IPix"/>
              <a:cs typeface="IPix"/>
            </a:endParaRPr>
          </a:p>
          <a:p>
            <a:r>
              <a:rPr sz="2400">
                <a:solidFill>
                  <a:schemeClr val="tx1">
                    <a:lumMod val="85000"/>
                    <a:lumOff val="15000"/>
                  </a:schemeClr>
                </a:solidFill>
                <a:latin typeface="IPix"/>
                <a:ea typeface="IPix"/>
                <a:cs typeface="IPix"/>
              </a:rPr>
              <a:t>已完成主菜单、地图移动、地块信息、夜市购买、摊位管理、夜晚结算、贷款利息、随机事件、天气、卫生检查、消息栏反馈和胜负判断。</a:t>
            </a:r>
            <a:endParaRPr sz="2400">
              <a:solidFill>
                <a:schemeClr val="tx1">
                  <a:lumMod val="85000"/>
                  <a:lumOff val="15000"/>
                </a:schemeClr>
              </a:solidFill>
              <a:latin typeface="IPix"/>
              <a:ea typeface="IPix"/>
              <a:cs typeface="IPix"/>
            </a:endParaRPr>
          </a:p>
          <a:p>
            <a:endParaRPr sz="2400"/>
          </a:p>
          <a:p>
            <a:r>
              <a:rPr sz="2400">
                <a:solidFill>
                  <a:schemeClr val="tx1">
                    <a:lumMod val="85000"/>
                    <a:lumOff val="15000"/>
                  </a:schemeClr>
                </a:solidFill>
                <a:latin typeface="IPix"/>
                <a:ea typeface="IPix"/>
                <a:cs typeface="IPix"/>
              </a:rPr>
              <a:t>后续优化方向</a:t>
            </a:r>
            <a:endParaRPr sz="2400">
              <a:solidFill>
                <a:schemeClr val="tx1">
                  <a:lumMod val="85000"/>
                  <a:lumOff val="15000"/>
                </a:schemeClr>
              </a:solidFill>
              <a:latin typeface="IPix"/>
              <a:ea typeface="IPix"/>
              <a:cs typeface="IPix"/>
            </a:endParaRPr>
          </a:p>
          <a:p>
            <a:r>
              <a:rPr sz="2400">
                <a:solidFill>
                  <a:schemeClr val="tx1">
                    <a:lumMod val="85000"/>
                    <a:lumOff val="15000"/>
                  </a:schemeClr>
                </a:solidFill>
                <a:latin typeface="IPix"/>
                <a:ea typeface="IPix"/>
                <a:cs typeface="IPix"/>
              </a:rPr>
              <a:t>补充教程与存档；强化事件选择弹窗；加入更多校园区域、摊位和角色事件；继续平衡收益、成本和胜利目标。</a:t>
            </a:r>
            <a:endParaRPr sz="2400">
              <a:solidFill>
                <a:schemeClr val="tx1">
                  <a:lumMod val="85000"/>
                  <a:lumOff val="15000"/>
                </a:schemeClr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20" name="图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06" y="3546237"/>
            <a:ext cx="1163958" cy="27103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7" name="内容占位符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599" y="2773928"/>
            <a:ext cx="5806601" cy="1567552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4203149" y="2883428"/>
            <a:ext cx="467273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>
                <a:solidFill>
                  <a:srgbClr val="754514"/>
                </a:solidFill>
                <a:latin typeface="IPix"/>
                <a:ea typeface="IPix"/>
                <a:cs typeface="IPix"/>
              </a:rPr>
              <a:t>谢谢观看</a:t>
            </a:r>
            <a:endParaRPr sz="7200">
              <a:solidFill>
                <a:srgbClr val="754514"/>
              </a:solidFill>
              <a:latin typeface="IPix"/>
              <a:ea typeface="IPix"/>
              <a:cs typeface="IPix"/>
            </a:endParaRPr>
          </a:p>
          <a:p>
            <a:r>
              <a:rPr sz="7200">
                <a:solidFill>
                  <a:srgbClr val="754514"/>
                </a:solidFill>
                <a:latin typeface="IPix"/>
                <a:ea typeface="IPix"/>
                <a:cs typeface="IPix"/>
              </a:rPr>
              <a:t>欢迎提问</a:t>
            </a:r>
            <a:endParaRPr sz="7200">
              <a:solidFill>
                <a:srgbClr val="754514"/>
              </a:solidFill>
              <a:latin typeface="IPix"/>
              <a:ea typeface="IPix"/>
              <a:cs typeface="IPix"/>
            </a:endParaRPr>
          </a:p>
        </p:txBody>
      </p:sp>
      <p:pic>
        <p:nvPicPr>
          <p:cNvPr id="9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876" y="3171901"/>
            <a:ext cx="771606" cy="7716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5" name="内容占位符 4"/>
          <p:cNvPicPr>
            <a:picLocks noChangeAspect="1"/>
          </p:cNvPicPr>
          <p:nvPr>
            <p:ph idx="1"/>
          </p:nvPr>
        </p:nvPicPr>
        <p:blipFill>
          <a:blip r:embed="rId1"/>
          <a:srcRect t="30665" b="34910"/>
          <a:stretch>
            <a:fillRect/>
          </a:stretch>
        </p:blipFill>
        <p:spPr>
          <a:xfrm>
            <a:off x="1247461" y="1027906"/>
            <a:ext cx="9442003" cy="3990659"/>
          </a:xfr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2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3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4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5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6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7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8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9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10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11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12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13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ags/tag14.xml><?xml version="1.0" encoding="utf-8"?>
<p:tagLst xmlns:p="http://schemas.openxmlformats.org/presentationml/2006/main">
  <p:tag name="KSO_WM_DIAGRAM_VIRTUALLY_FRAME" val="{&quot;height&quot;:595.4302362204725,&quot;left&quot;:68.60385826771653,&quot;top&quot;:62.52496062992126,&quot;width&quot;:801.9621259842519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2174</Words>
  <Application>WPS 演示</Application>
  <PresentationFormat>Converted Presentation</PresentationFormat>
  <Paragraphs>173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7" baseType="lpstr">
      <vt:lpstr>Arial</vt:lpstr>
      <vt:lpstr>宋体</vt:lpstr>
      <vt:lpstr>Wingdings</vt:lpstr>
      <vt:lpstr>IPix</vt:lpstr>
      <vt:lpstr>Segoe Print</vt:lpstr>
      <vt:lpstr>微软雅黑</vt:lpstr>
      <vt:lpstr>Arial Unicode MS</vt:lpstr>
      <vt:lpstr>等线 Light</vt:lpstr>
      <vt:lpstr>等线</vt:lpstr>
      <vt:lpstr>Calibri</vt:lpstr>
      <vt:lpstr>IPix</vt:lpstr>
      <vt:lpstr>IPix</vt:lpstr>
      <vt:lpstr>Saitamaar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明微</cp:lastModifiedBy>
  <cp:revision>2</cp:revision>
  <dcterms:created xsi:type="dcterms:W3CDTF">2026-06-17T13:36:45Z</dcterms:created>
  <dcterms:modified xsi:type="dcterms:W3CDTF">2026-06-17T18:09:29Z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E6FBE97AA4824623B0201B8BEB206E36_12</vt:lpwstr>
  </property>
</Properties>
</file>